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1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7"/>
    <p:restoredTop sz="84148"/>
  </p:normalViewPr>
  <p:slideViewPr>
    <p:cSldViewPr snapToGrid="0">
      <p:cViewPr varScale="1">
        <p:scale>
          <a:sx n="109" d="100"/>
          <a:sy n="109" d="100"/>
        </p:scale>
        <p:origin x="3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6D4C1-77E5-FD45-83F7-933CF44FBC75}" type="datetimeFigureOut">
              <a:rPr lang="fr-FR" smtClean="0"/>
              <a:t>13/03/2025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BE3C8-931F-3C4D-A437-5B5070D001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02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BE3C8-931F-3C4D-A437-5B5070D0012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24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BE3C8-931F-3C4D-A437-5B5070D0012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75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4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4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7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9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0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9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6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9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4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53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FE95149-4668-EC30-CBE4-49F2EDD377DA}"/>
              </a:ext>
            </a:extLst>
          </p:cNvPr>
          <p:cNvSpPr txBox="1"/>
          <p:nvPr/>
        </p:nvSpPr>
        <p:spPr>
          <a:xfrm>
            <a:off x="601579" y="252664"/>
            <a:ext cx="1060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1: Target Selection – Diabetes. Removing Missing Data. Feature Importance Analysis with SHAP.</a:t>
            </a:r>
            <a:endParaRPr lang="en-US" noProof="0" dirty="0"/>
          </a:p>
          <a:p>
            <a:endParaRPr lang="en-US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C39681-7A76-E19D-E36B-6364880549DC}"/>
              </a:ext>
            </a:extLst>
          </p:cNvPr>
          <p:cNvSpPr txBox="1"/>
          <p:nvPr/>
        </p:nvSpPr>
        <p:spPr>
          <a:xfrm>
            <a:off x="601579" y="970548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Full dataset :</a:t>
            </a:r>
          </a:p>
        </p:txBody>
      </p:sp>
      <p:pic>
        <p:nvPicPr>
          <p:cNvPr id="5" name="Image 4" descr="Une image contenant texte, reçu, Police, algèbre&#10;&#10;Le contenu généré par l’IA peut être incorrect.">
            <a:extLst>
              <a:ext uri="{FF2B5EF4-FFF2-40B4-BE49-F238E27FC236}">
                <a16:creationId xmlns:a16="http://schemas.microsoft.com/office/drawing/2014/main" id="{2F73FF73-6AD0-DE61-0BEF-758B6C47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34" r="44075" b="9008"/>
          <a:stretch/>
        </p:blipFill>
        <p:spPr>
          <a:xfrm>
            <a:off x="3797192" y="2115044"/>
            <a:ext cx="1491720" cy="954107"/>
          </a:xfrm>
          <a:prstGeom prst="rect">
            <a:avLst/>
          </a:prstGeom>
        </p:spPr>
      </p:pic>
      <p:pic>
        <p:nvPicPr>
          <p:cNvPr id="6" name="Image 5" descr="Une image contenant texte, reçu, Police, algèbre&#10;&#10;Le contenu généré par l’IA peut être incorrect.">
            <a:extLst>
              <a:ext uri="{FF2B5EF4-FFF2-40B4-BE49-F238E27FC236}">
                <a16:creationId xmlns:a16="http://schemas.microsoft.com/office/drawing/2014/main" id="{E7226E27-7A48-5532-3388-72CDB2A5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048"/>
          <a:stretch/>
        </p:blipFill>
        <p:spPr>
          <a:xfrm>
            <a:off x="301969" y="1295015"/>
            <a:ext cx="2764885" cy="29238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7E97373-7D48-EA0A-A2F6-ED009CE7F045}"/>
              </a:ext>
            </a:extLst>
          </p:cNvPr>
          <p:cNvSpPr txBox="1"/>
          <p:nvPr/>
        </p:nvSpPr>
        <p:spPr>
          <a:xfrm>
            <a:off x="628854" y="1718522"/>
            <a:ext cx="14093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Target :</a:t>
            </a:r>
          </a:p>
          <a:p>
            <a:r>
              <a:rPr lang="en-US" sz="1400" b="1" dirty="0"/>
              <a:t>0 – not diabetes</a:t>
            </a:r>
          </a:p>
          <a:p>
            <a:r>
              <a:rPr lang="en-US" sz="1400" b="1" noProof="0" dirty="0"/>
              <a:t>1 – prediabetes</a:t>
            </a:r>
          </a:p>
          <a:p>
            <a:r>
              <a:rPr lang="en-US" sz="1400" b="1" dirty="0"/>
              <a:t>2 - diabetes</a:t>
            </a:r>
            <a:endParaRPr lang="en-US" sz="1400" b="1" noProof="0" dirty="0"/>
          </a:p>
        </p:txBody>
      </p:sp>
      <p:pic>
        <p:nvPicPr>
          <p:cNvPr id="11" name="Image 10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DAEB98A0-F304-18CA-9B00-7E3225F73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43" y="2981708"/>
            <a:ext cx="3273191" cy="3019908"/>
          </a:xfrm>
          <a:prstGeom prst="rect">
            <a:avLst/>
          </a:prstGeom>
        </p:spPr>
      </p:pic>
      <p:pic>
        <p:nvPicPr>
          <p:cNvPr id="13" name="Image 12" descr="Une image contenant texte, outil, conception&#10;&#10;Le contenu généré par l’IA peut être incorrect.">
            <a:extLst>
              <a:ext uri="{FF2B5EF4-FFF2-40B4-BE49-F238E27FC236}">
                <a16:creationId xmlns:a16="http://schemas.microsoft.com/office/drawing/2014/main" id="{3EF9DB76-CDDD-629D-FC96-779C87944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511" y="992888"/>
            <a:ext cx="1490193" cy="841237"/>
          </a:xfrm>
          <a:prstGeom prst="rect">
            <a:avLst/>
          </a:prstGeom>
        </p:spPr>
      </p:pic>
      <p:pic>
        <p:nvPicPr>
          <p:cNvPr id="14" name="Image 13" descr="Une image contenant texte, reçu, Police, algèbre&#10;&#10;Le contenu généré par l’IA peut être incorrect.">
            <a:extLst>
              <a:ext uri="{FF2B5EF4-FFF2-40B4-BE49-F238E27FC236}">
                <a16:creationId xmlns:a16="http://schemas.microsoft.com/office/drawing/2014/main" id="{D7698AE9-365F-271D-648C-9DF3D34F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048"/>
          <a:stretch/>
        </p:blipFill>
        <p:spPr>
          <a:xfrm>
            <a:off x="3388516" y="3587246"/>
            <a:ext cx="2543934" cy="53883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974EFC0-7BDF-FDB1-CB1E-72611D16926A}"/>
              </a:ext>
            </a:extLst>
          </p:cNvPr>
          <p:cNvSpPr txBox="1"/>
          <p:nvPr/>
        </p:nvSpPr>
        <p:spPr>
          <a:xfrm>
            <a:off x="4352517" y="77443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 err="1"/>
              <a:t>NaN</a:t>
            </a:r>
            <a:endParaRPr lang="en-US" sz="1400" b="1" noProof="0" dirty="0"/>
          </a:p>
        </p:txBody>
      </p:sp>
      <p:sp>
        <p:nvSpPr>
          <p:cNvPr id="16" name="Flèche vers le bas 15">
            <a:extLst>
              <a:ext uri="{FF2B5EF4-FFF2-40B4-BE49-F238E27FC236}">
                <a16:creationId xmlns:a16="http://schemas.microsoft.com/office/drawing/2014/main" id="{1FA1F56C-8A1E-93DE-CD9E-4B0B7520C5D7}"/>
              </a:ext>
            </a:extLst>
          </p:cNvPr>
          <p:cNvSpPr/>
          <p:nvPr/>
        </p:nvSpPr>
        <p:spPr>
          <a:xfrm>
            <a:off x="4606275" y="1834125"/>
            <a:ext cx="164683" cy="309079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>
            <a:extLst>
              <a:ext uri="{FF2B5EF4-FFF2-40B4-BE49-F238E27FC236}">
                <a16:creationId xmlns:a16="http://schemas.microsoft.com/office/drawing/2014/main" id="{E1DEE968-D223-B262-55E2-E1949E341069}"/>
              </a:ext>
            </a:extLst>
          </p:cNvPr>
          <p:cNvSpPr/>
          <p:nvPr/>
        </p:nvSpPr>
        <p:spPr>
          <a:xfrm>
            <a:off x="4551664" y="3167379"/>
            <a:ext cx="164683" cy="309079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612F116-FF23-5079-72D0-11CD2442E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014" y="1103056"/>
            <a:ext cx="5040015" cy="3037817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5683E747-594A-B61A-E0D2-1C21D14FD6A0}"/>
              </a:ext>
            </a:extLst>
          </p:cNvPr>
          <p:cNvSpPr txBox="1"/>
          <p:nvPr/>
        </p:nvSpPr>
        <p:spPr>
          <a:xfrm>
            <a:off x="7310488" y="729298"/>
            <a:ext cx="3762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Removing Columns with &gt;55% Missing Data</a:t>
            </a:r>
            <a:endParaRPr lang="en-US" sz="1400" noProof="0" dirty="0"/>
          </a:p>
        </p:txBody>
      </p:sp>
      <p:sp>
        <p:nvSpPr>
          <p:cNvPr id="27" name="Flèche vers le bas 26">
            <a:extLst>
              <a:ext uri="{FF2B5EF4-FFF2-40B4-BE49-F238E27FC236}">
                <a16:creationId xmlns:a16="http://schemas.microsoft.com/office/drawing/2014/main" id="{A080A916-76EE-C261-430B-62C27D8B299B}"/>
              </a:ext>
            </a:extLst>
          </p:cNvPr>
          <p:cNvSpPr/>
          <p:nvPr/>
        </p:nvSpPr>
        <p:spPr>
          <a:xfrm>
            <a:off x="9401128" y="4172884"/>
            <a:ext cx="164683" cy="309079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3B1A623-346E-C054-B9B6-F2238CD8D49A}"/>
              </a:ext>
            </a:extLst>
          </p:cNvPr>
          <p:cNvSpPr txBox="1"/>
          <p:nvPr/>
        </p:nvSpPr>
        <p:spPr>
          <a:xfrm>
            <a:off x="9565811" y="4140873"/>
            <a:ext cx="1567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+ removing rows 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5B5AF37-1524-B7EA-1485-E5B4EE8F9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456" y="4473276"/>
            <a:ext cx="2764885" cy="334217"/>
          </a:xfrm>
          <a:prstGeom prst="rect">
            <a:avLst/>
          </a:prstGeom>
        </p:spPr>
      </p:pic>
      <p:pic>
        <p:nvPicPr>
          <p:cNvPr id="32" name="Image 31" descr="Une image contenant texte, Police, reçu, blanc&#10;&#10;Le contenu généré par l’IA peut être incorrect.">
            <a:extLst>
              <a:ext uri="{FF2B5EF4-FFF2-40B4-BE49-F238E27FC236}">
                <a16:creationId xmlns:a16="http://schemas.microsoft.com/office/drawing/2014/main" id="{6D95B357-7AC9-CBA3-66A1-1B6DFA5314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4671" y="4904719"/>
            <a:ext cx="2233670" cy="1063652"/>
          </a:xfrm>
          <a:prstGeom prst="rect">
            <a:avLst/>
          </a:prstGeom>
        </p:spPr>
      </p:pic>
      <p:pic>
        <p:nvPicPr>
          <p:cNvPr id="34" name="Image 33" descr="Une image contenant texte, reçu, Police, algèbre&#10;&#10;Le contenu généré par l’IA peut être incorrect.">
            <a:extLst>
              <a:ext uri="{FF2B5EF4-FFF2-40B4-BE49-F238E27FC236}">
                <a16:creationId xmlns:a16="http://schemas.microsoft.com/office/drawing/2014/main" id="{3A7D3872-54FC-A633-C199-8BDD78135A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7277" y="4408542"/>
            <a:ext cx="1918256" cy="14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60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AA7B4A4-9B35-3796-72A3-0B3C4FAF40E9}"/>
              </a:ext>
            </a:extLst>
          </p:cNvPr>
          <p:cNvSpPr txBox="1"/>
          <p:nvPr/>
        </p:nvSpPr>
        <p:spPr>
          <a:xfrm>
            <a:off x="601579" y="252664"/>
            <a:ext cx="1060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1: Target Selection – Diabetes. Removing Missing Data. Feature Importance Analysis with SHAP.</a:t>
            </a:r>
            <a:endParaRPr lang="en-US" noProof="0" dirty="0"/>
          </a:p>
          <a:p>
            <a:endParaRPr lang="en-US" b="1" noProof="0" dirty="0"/>
          </a:p>
        </p:txBody>
      </p:sp>
      <p:pic>
        <p:nvPicPr>
          <p:cNvPr id="4" name="Image 3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52E11048-2D79-714A-68B1-07BC465D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680"/>
          <a:stretch/>
        </p:blipFill>
        <p:spPr>
          <a:xfrm>
            <a:off x="61951" y="1278325"/>
            <a:ext cx="5080000" cy="2312558"/>
          </a:xfrm>
          <a:prstGeom prst="rect">
            <a:avLst/>
          </a:prstGeom>
        </p:spPr>
      </p:pic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56C08B79-F2D2-D0DD-E666-A38EF37FA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641" r="56885"/>
          <a:stretch/>
        </p:blipFill>
        <p:spPr>
          <a:xfrm>
            <a:off x="355406" y="3898660"/>
            <a:ext cx="4207728" cy="216455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036409A-0B3A-22DA-FBAC-F281704780E5}"/>
              </a:ext>
            </a:extLst>
          </p:cNvPr>
          <p:cNvSpPr txBox="1"/>
          <p:nvPr/>
        </p:nvSpPr>
        <p:spPr>
          <a:xfrm>
            <a:off x="601579" y="970548"/>
            <a:ext cx="724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Train :</a:t>
            </a:r>
          </a:p>
        </p:txBody>
      </p:sp>
      <p:pic>
        <p:nvPicPr>
          <p:cNvPr id="8" name="Image 7" descr="Une image contenant capture d’écran, Rectangle, diagramme, ligne&#10;&#10;Le contenu généré par l’IA peut être incorrect.">
            <a:extLst>
              <a:ext uri="{FF2B5EF4-FFF2-40B4-BE49-F238E27FC236}">
                <a16:creationId xmlns:a16="http://schemas.microsoft.com/office/drawing/2014/main" id="{3C9B4162-CCC2-63BF-CDA9-3B37BB4EC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169" y="1248509"/>
            <a:ext cx="6288252" cy="2342374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F011B22-45CD-046C-4801-9BB94E388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649" y="3947530"/>
            <a:ext cx="4350409" cy="199607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5F024B0-9C30-3460-2B4A-1F032E0917B0}"/>
              </a:ext>
            </a:extLst>
          </p:cNvPr>
          <p:cNvSpPr txBox="1"/>
          <p:nvPr/>
        </p:nvSpPr>
        <p:spPr>
          <a:xfrm>
            <a:off x="5733593" y="919863"/>
            <a:ext cx="624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Test 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48A015-41CB-1924-465B-391EE21637A7}"/>
              </a:ext>
            </a:extLst>
          </p:cNvPr>
          <p:cNvSpPr txBox="1"/>
          <p:nvPr/>
        </p:nvSpPr>
        <p:spPr>
          <a:xfrm>
            <a:off x="377284" y="6343726"/>
            <a:ext cx="46570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b="1" noProof="0" dirty="0"/>
              <a:t>* Using Fasting Glucose (LBDGLUSI) and HbA1c (LBXGH) as features</a:t>
            </a:r>
          </a:p>
        </p:txBody>
      </p:sp>
    </p:spTree>
    <p:extLst>
      <p:ext uri="{BB962C8B-B14F-4D97-AF65-F5344CB8AC3E}">
        <p14:creationId xmlns:p14="http://schemas.microsoft.com/office/powerpoint/2010/main" val="3291096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2C8-4F4D-D88B-AE6D-05FBE156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4FC28FB-5632-88B1-2F1A-63108EE0D0CE}"/>
              </a:ext>
            </a:extLst>
          </p:cNvPr>
          <p:cNvSpPr txBox="1"/>
          <p:nvPr/>
        </p:nvSpPr>
        <p:spPr>
          <a:xfrm>
            <a:off x="601579" y="252664"/>
            <a:ext cx="1060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1: Target Selection – Diabetes. Removing Missing Data. Feature Importance Analysis with SHAP.</a:t>
            </a:r>
            <a:endParaRPr lang="en-US" noProof="0" dirty="0"/>
          </a:p>
          <a:p>
            <a:endParaRPr lang="en-US" b="1" noProof="0" dirty="0"/>
          </a:p>
        </p:txBody>
      </p:sp>
      <p:pic>
        <p:nvPicPr>
          <p:cNvPr id="7" name="Image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D5C37205-5AD9-04ED-8BFE-C7D8E8192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84" y="1062647"/>
            <a:ext cx="4724400" cy="49784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01D5BA2-0B5D-297F-0D25-A44F1A13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991" y="1250815"/>
            <a:ext cx="5112265" cy="479023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FEC687C-F365-77B0-23AC-FF02DB526232}"/>
              </a:ext>
            </a:extLst>
          </p:cNvPr>
          <p:cNvSpPr txBox="1"/>
          <p:nvPr/>
        </p:nvSpPr>
        <p:spPr>
          <a:xfrm>
            <a:off x="6012373" y="745106"/>
            <a:ext cx="1832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Class 2, descending :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983E613-8373-68F3-5A65-0F2CA3E342C2}"/>
              </a:ext>
            </a:extLst>
          </p:cNvPr>
          <p:cNvSpPr txBox="1"/>
          <p:nvPr/>
        </p:nvSpPr>
        <p:spPr>
          <a:xfrm>
            <a:off x="210474" y="745106"/>
            <a:ext cx="3250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Features sorted by SHAP importance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CF567C4-0B9E-C9D5-0CA4-380E80D6041E}"/>
              </a:ext>
            </a:extLst>
          </p:cNvPr>
          <p:cNvSpPr txBox="1"/>
          <p:nvPr/>
        </p:nvSpPr>
        <p:spPr>
          <a:xfrm>
            <a:off x="377284" y="6343726"/>
            <a:ext cx="46570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b="1" noProof="0" dirty="0"/>
              <a:t>* Using Fasting Glucose (LBDGLUSI) and HbA1c (LBXGH) as features</a:t>
            </a:r>
          </a:p>
        </p:txBody>
      </p:sp>
    </p:spTree>
    <p:extLst>
      <p:ext uri="{BB962C8B-B14F-4D97-AF65-F5344CB8AC3E}">
        <p14:creationId xmlns:p14="http://schemas.microsoft.com/office/powerpoint/2010/main" val="356252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7664C-5A08-4E97-91AC-36F2E5B1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7F713C-9A6E-2478-FF9E-92B7EDBC51E6}"/>
              </a:ext>
            </a:extLst>
          </p:cNvPr>
          <p:cNvSpPr txBox="1"/>
          <p:nvPr/>
        </p:nvSpPr>
        <p:spPr>
          <a:xfrm>
            <a:off x="601579" y="252664"/>
            <a:ext cx="1060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1: Target Selection – Diabetes. Removing Missing Data. Feature Importance Analysis with SHAP.</a:t>
            </a:r>
            <a:endParaRPr lang="en-US" noProof="0" dirty="0"/>
          </a:p>
          <a:p>
            <a:endParaRPr lang="en-US" b="1" noProof="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81BFE5-8005-E98C-943F-5915509D52AE}"/>
              </a:ext>
            </a:extLst>
          </p:cNvPr>
          <p:cNvSpPr txBox="1"/>
          <p:nvPr/>
        </p:nvSpPr>
        <p:spPr>
          <a:xfrm>
            <a:off x="377284" y="6343726"/>
            <a:ext cx="48974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b="1" noProof="0" dirty="0"/>
              <a:t>* Not </a:t>
            </a:r>
            <a:r>
              <a:rPr lang="en-AU" sz="1100" b="1" dirty="0"/>
              <a:t>u</a:t>
            </a:r>
            <a:r>
              <a:rPr lang="en-AU" sz="1100" b="1" noProof="0" dirty="0"/>
              <a:t>sing Fasting Glucose (LBDGLUSI) and HbA1c (LBXGH) as features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AFF641-2DCF-B3F3-4A38-35F7C23BA172}"/>
              </a:ext>
            </a:extLst>
          </p:cNvPr>
          <p:cNvSpPr txBox="1"/>
          <p:nvPr/>
        </p:nvSpPr>
        <p:spPr>
          <a:xfrm>
            <a:off x="601579" y="970548"/>
            <a:ext cx="724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Train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E19798-36BD-D7C6-CCD1-B2EEC6A3AEE6}"/>
              </a:ext>
            </a:extLst>
          </p:cNvPr>
          <p:cNvSpPr txBox="1"/>
          <p:nvPr/>
        </p:nvSpPr>
        <p:spPr>
          <a:xfrm>
            <a:off x="5733593" y="919863"/>
            <a:ext cx="624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Test :</a:t>
            </a:r>
          </a:p>
        </p:txBody>
      </p:sp>
      <p:pic>
        <p:nvPicPr>
          <p:cNvPr id="6" name="Image 5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597FF550-3026-9970-E160-A6A4F0B11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6" b="34433"/>
          <a:stretch/>
        </p:blipFill>
        <p:spPr>
          <a:xfrm>
            <a:off x="0" y="1522801"/>
            <a:ext cx="5892583" cy="2361618"/>
          </a:xfrm>
          <a:prstGeom prst="rect">
            <a:avLst/>
          </a:prstGeom>
        </p:spPr>
      </p:pic>
      <p:pic>
        <p:nvPicPr>
          <p:cNvPr id="8" name="Image 7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45D5E1A1-9E55-89EF-285F-3C71607E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232" r="57765"/>
          <a:stretch/>
        </p:blipFill>
        <p:spPr>
          <a:xfrm>
            <a:off x="601578" y="3884419"/>
            <a:ext cx="3683227" cy="1825004"/>
          </a:xfrm>
          <a:prstGeom prst="rect">
            <a:avLst/>
          </a:prstGeom>
        </p:spPr>
      </p:pic>
      <p:pic>
        <p:nvPicPr>
          <p:cNvPr id="10" name="Image 9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DA0F2EEF-C0F4-6A57-64A1-6B0F25F7D3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499"/>
          <a:stretch/>
        </p:blipFill>
        <p:spPr>
          <a:xfrm>
            <a:off x="5904921" y="1472115"/>
            <a:ext cx="6225831" cy="2412304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D8C24D82-4AB7-BCE5-17E0-39DDF52967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77" r="59093"/>
          <a:stretch/>
        </p:blipFill>
        <p:spPr>
          <a:xfrm>
            <a:off x="6358444" y="4186080"/>
            <a:ext cx="3732500" cy="152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2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EE09-2036-C71F-F32F-3DC2DA40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B553FF-B48D-6F9A-FCA0-6F969B17BD07}"/>
              </a:ext>
            </a:extLst>
          </p:cNvPr>
          <p:cNvSpPr txBox="1"/>
          <p:nvPr/>
        </p:nvSpPr>
        <p:spPr>
          <a:xfrm>
            <a:off x="601579" y="252664"/>
            <a:ext cx="1060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1: Target Selection – Diabetes. Removing Missing Data. Feature Importance Analysis with SHAP.</a:t>
            </a:r>
            <a:endParaRPr lang="en-US" noProof="0" dirty="0"/>
          </a:p>
          <a:p>
            <a:endParaRPr lang="en-US" b="1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59076A-D6AB-A62F-A617-490393DE3B56}"/>
              </a:ext>
            </a:extLst>
          </p:cNvPr>
          <p:cNvSpPr txBox="1"/>
          <p:nvPr/>
        </p:nvSpPr>
        <p:spPr>
          <a:xfrm>
            <a:off x="6012373" y="745106"/>
            <a:ext cx="1832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Class 2, descending :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D004530-8C73-3022-A90B-35416C57F7A6}"/>
              </a:ext>
            </a:extLst>
          </p:cNvPr>
          <p:cNvSpPr txBox="1"/>
          <p:nvPr/>
        </p:nvSpPr>
        <p:spPr>
          <a:xfrm>
            <a:off x="210474" y="745106"/>
            <a:ext cx="3250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Features sorted by SHAP importance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0F24164-79AE-4F59-6E62-B00201985249}"/>
              </a:ext>
            </a:extLst>
          </p:cNvPr>
          <p:cNvSpPr txBox="1"/>
          <p:nvPr/>
        </p:nvSpPr>
        <p:spPr>
          <a:xfrm>
            <a:off x="377284" y="6343726"/>
            <a:ext cx="48974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b="1" noProof="0" dirty="0"/>
              <a:t>* </a:t>
            </a:r>
            <a:r>
              <a:rPr lang="en-US" sz="1100" b="1" dirty="0"/>
              <a:t>Not </a:t>
            </a:r>
            <a:r>
              <a:rPr lang="en-AU" sz="1100" b="1" dirty="0"/>
              <a:t>u</a:t>
            </a:r>
            <a:r>
              <a:rPr lang="en-AU" sz="1100" b="1" noProof="0" dirty="0"/>
              <a:t>sing Fasting Glucose (LBDGLUSI) and HbA1c (LBXGH) as features</a:t>
            </a:r>
          </a:p>
        </p:txBody>
      </p:sp>
      <p:pic>
        <p:nvPicPr>
          <p:cNvPr id="4" name="Image 3" descr="Une image contenant texte, capture d’écran, Caractère coloré, Police&#10;&#10;Le contenu généré par l’IA peut être incorrect.">
            <a:extLst>
              <a:ext uri="{FF2B5EF4-FFF2-40B4-BE49-F238E27FC236}">
                <a16:creationId xmlns:a16="http://schemas.microsoft.com/office/drawing/2014/main" id="{B5F574D3-BE3F-8BA3-E8D1-194AFC72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02" y="1080896"/>
            <a:ext cx="4495548" cy="4957947"/>
          </a:xfrm>
          <a:prstGeom prst="rect">
            <a:avLst/>
          </a:prstGeom>
        </p:spPr>
      </p:pic>
      <p:pic>
        <p:nvPicPr>
          <p:cNvPr id="6" name="Image 5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54D1B10F-63B3-BB50-819D-AE73D8D44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373" y="1080896"/>
            <a:ext cx="5112662" cy="500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2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9A9F-99E3-0CB1-6B0D-8B71125E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714C6FD-D773-D787-D314-594EC9E47971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pic>
        <p:nvPicPr>
          <p:cNvPr id="10" name="Image 9" descr="Une image contenant texte, reçu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34F82C-0456-A709-A3FF-EB0E31D80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0933"/>
            <a:ext cx="12142952" cy="243187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F299816-F6E9-D765-53C0-A1C5B66AEE7B}"/>
              </a:ext>
            </a:extLst>
          </p:cNvPr>
          <p:cNvSpPr txBox="1"/>
          <p:nvPr/>
        </p:nvSpPr>
        <p:spPr>
          <a:xfrm>
            <a:off x="534755" y="2966659"/>
            <a:ext cx="74908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patients with at least </a:t>
            </a:r>
            <a:r>
              <a:rPr lang="en-AU" sz="1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non-missing values</a:t>
            </a:r>
            <a:r>
              <a:rPr lang="en-AU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considered for MetS classification.</a:t>
            </a:r>
          </a:p>
        </p:txBody>
      </p:sp>
      <p:pic>
        <p:nvPicPr>
          <p:cNvPr id="19" name="Image 18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429C488B-885A-2577-FB8B-E87CE7E7A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5" y="825191"/>
            <a:ext cx="10286731" cy="186225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2FE80B1-AEF5-0D3E-4D21-1B56DAAFDAAE}"/>
              </a:ext>
            </a:extLst>
          </p:cNvPr>
          <p:cNvSpPr txBox="1"/>
          <p:nvPr/>
        </p:nvSpPr>
        <p:spPr>
          <a:xfrm>
            <a:off x="5463738" y="3759852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FA33FDE-064C-732B-8079-2E3B281164A7}"/>
              </a:ext>
            </a:extLst>
          </p:cNvPr>
          <p:cNvSpPr txBox="1"/>
          <p:nvPr/>
        </p:nvSpPr>
        <p:spPr>
          <a:xfrm>
            <a:off x="5940671" y="3759852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66B3657-D892-E905-4C69-9F89A169E08C}"/>
              </a:ext>
            </a:extLst>
          </p:cNvPr>
          <p:cNvSpPr txBox="1"/>
          <p:nvPr/>
        </p:nvSpPr>
        <p:spPr>
          <a:xfrm>
            <a:off x="6427952" y="375985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2547E09-A5A0-5097-F93E-160575BFCAB0}"/>
              </a:ext>
            </a:extLst>
          </p:cNvPr>
          <p:cNvSpPr txBox="1"/>
          <p:nvPr/>
        </p:nvSpPr>
        <p:spPr>
          <a:xfrm>
            <a:off x="6915233" y="375985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831F1D3-AC19-DC7E-5938-C625EE28644F}"/>
              </a:ext>
            </a:extLst>
          </p:cNvPr>
          <p:cNvSpPr txBox="1"/>
          <p:nvPr/>
        </p:nvSpPr>
        <p:spPr>
          <a:xfrm>
            <a:off x="7528512" y="375985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E575063-592D-B77E-CDDC-E165951EEDB3}"/>
              </a:ext>
            </a:extLst>
          </p:cNvPr>
          <p:cNvSpPr txBox="1"/>
          <p:nvPr/>
        </p:nvSpPr>
        <p:spPr>
          <a:xfrm>
            <a:off x="7834585" y="3759850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AU" sz="10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etS</a:t>
            </a:r>
            <a:r>
              <a:rPr lang="en-AU" sz="1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 nan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7EF42A2-180C-6970-EFA9-42FFBB8890F6}"/>
              </a:ext>
            </a:extLst>
          </p:cNvPr>
          <p:cNvSpPr txBox="1"/>
          <p:nvPr/>
        </p:nvSpPr>
        <p:spPr>
          <a:xfrm>
            <a:off x="8740288" y="3775238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 </a:t>
            </a:r>
            <a:r>
              <a:rPr lang="en-AU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metS</a:t>
            </a:r>
            <a:endParaRPr lang="en-AU" sz="10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35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508A1CB5-ACCA-509F-DF13-955B3AC8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56" y="800645"/>
            <a:ext cx="6835050" cy="480726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98693B1-F018-A53E-384D-5CB6D1667D50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36569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6959-E2EE-B8FC-B794-E2330EE3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A2F2AA8-102E-85FA-99B7-6EF07E6E58D9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pic>
        <p:nvPicPr>
          <p:cNvPr id="6" name="Image 5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74FF3D0-61F4-72D5-4BFE-3B9E2832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25" y="1000633"/>
            <a:ext cx="6097293" cy="230602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457992D-A680-BFBD-2864-1456BD3E53A8}"/>
              </a:ext>
            </a:extLst>
          </p:cNvPr>
          <p:cNvSpPr txBox="1"/>
          <p:nvPr/>
        </p:nvSpPr>
        <p:spPr>
          <a:xfrm>
            <a:off x="210474" y="74510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 err="1"/>
              <a:t>Mets_HDL</a:t>
            </a:r>
            <a:endParaRPr lang="en-US" sz="1400" b="1" noProof="0" dirty="0"/>
          </a:p>
        </p:txBody>
      </p:sp>
      <p:pic>
        <p:nvPicPr>
          <p:cNvPr id="9" name="Image 8" descr="Une image contenant texte, diagramm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BAB8CE78-ED8B-36D4-BE1F-E1EB145A6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93" y="3441217"/>
            <a:ext cx="5384800" cy="21971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B54A9BD-ACCA-CCB6-7D55-FCEA1F280507}"/>
              </a:ext>
            </a:extLst>
          </p:cNvPr>
          <p:cNvSpPr txBox="1"/>
          <p:nvPr/>
        </p:nvSpPr>
        <p:spPr>
          <a:xfrm>
            <a:off x="210474" y="1966889"/>
            <a:ext cx="2747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noProof="1"/>
              <a:t>Without considering </a:t>
            </a:r>
          </a:p>
          <a:p>
            <a:r>
              <a:rPr lang="en-AU" sz="1200" b="1" noProof="1"/>
              <a:t>medication use</a:t>
            </a:r>
            <a:endParaRPr lang="en-AU" sz="1200" noProof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B74280-2ED3-282F-1EA2-364451528472}"/>
              </a:ext>
            </a:extLst>
          </p:cNvPr>
          <p:cNvSpPr txBox="1"/>
          <p:nvPr/>
        </p:nvSpPr>
        <p:spPr>
          <a:xfrm>
            <a:off x="201433" y="4401267"/>
            <a:ext cx="2070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noProof="0" dirty="0"/>
              <a:t>Including medication use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B5BEE7-5815-F7BB-F4D8-60770EA52F26}"/>
              </a:ext>
            </a:extLst>
          </p:cNvPr>
          <p:cNvSpPr txBox="1"/>
          <p:nvPr/>
        </p:nvSpPr>
        <p:spPr>
          <a:xfrm>
            <a:off x="0" y="5855836"/>
            <a:ext cx="3758339" cy="25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43. </a:t>
            </a:r>
            <a:r>
              <a:rPr lang="fr-FR" sz="10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**BPQ090D**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high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cholesterol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07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6E2B-4BA2-B117-ACCE-BE21C133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F3DE20C-AA61-6499-3E92-0554E928757F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6CDE76-5ED9-597F-A1E2-E220F8149B65}"/>
              </a:ext>
            </a:extLst>
          </p:cNvPr>
          <p:cNvSpPr txBox="1"/>
          <p:nvPr/>
        </p:nvSpPr>
        <p:spPr>
          <a:xfrm>
            <a:off x="210474" y="745106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 err="1"/>
              <a:t>Mets_BP</a:t>
            </a:r>
            <a:endParaRPr lang="en-US" sz="1400" b="1" noProof="0" dirty="0"/>
          </a:p>
        </p:txBody>
      </p:sp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E8733E06-8074-C8E3-6C9C-A0B97E467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071" y="898994"/>
            <a:ext cx="5867400" cy="2006600"/>
          </a:xfrm>
          <a:prstGeom prst="rect">
            <a:avLst/>
          </a:prstGeom>
        </p:spPr>
      </p:pic>
      <p:pic>
        <p:nvPicPr>
          <p:cNvPr id="8" name="Image 7" descr="Une image contenant text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446E5550-1A76-9834-8CFE-81B7CFDD4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519" y="3429000"/>
            <a:ext cx="5511800" cy="2184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1A064FE-4756-932C-3919-EC8A56104421}"/>
              </a:ext>
            </a:extLst>
          </p:cNvPr>
          <p:cNvSpPr txBox="1"/>
          <p:nvPr/>
        </p:nvSpPr>
        <p:spPr>
          <a:xfrm>
            <a:off x="83904" y="2036631"/>
            <a:ext cx="2622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noProof="0" dirty="0"/>
              <a:t>Without considering medication use</a:t>
            </a:r>
            <a:endParaRPr lang="en-AU" sz="1200" noProof="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CB2682-19D6-1740-A021-4B2156C5FB00}"/>
              </a:ext>
            </a:extLst>
          </p:cNvPr>
          <p:cNvSpPr txBox="1"/>
          <p:nvPr/>
        </p:nvSpPr>
        <p:spPr>
          <a:xfrm>
            <a:off x="413841" y="4313538"/>
            <a:ext cx="207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/>
              <a:t>Including</a:t>
            </a:r>
            <a:r>
              <a:rPr lang="fr-FR" sz="1200" b="1" dirty="0"/>
              <a:t> </a:t>
            </a:r>
            <a:r>
              <a:rPr lang="fr-FR" sz="1200" b="1" dirty="0" err="1"/>
              <a:t>medication</a:t>
            </a:r>
            <a:r>
              <a:rPr lang="fr-FR" sz="1200" b="1" dirty="0"/>
              <a:t> use </a:t>
            </a:r>
            <a:endParaRPr lang="ru-RU" sz="1200" b="1" dirty="0"/>
          </a:p>
          <a:p>
            <a:r>
              <a:rPr lang="fr-FR" sz="1200" b="1" dirty="0"/>
              <a:t>as a Hypertension Factor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C79158A-5D8F-AE47-B089-FD03876BBC92}"/>
              </a:ext>
            </a:extLst>
          </p:cNvPr>
          <p:cNvSpPr txBox="1"/>
          <p:nvPr/>
        </p:nvSpPr>
        <p:spPr>
          <a:xfrm>
            <a:off x="210474" y="5304150"/>
            <a:ext cx="6094708" cy="43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40. </a:t>
            </a:r>
            <a:r>
              <a:rPr lang="fr-FR" sz="10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**BPQ040A**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hypertension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1350"/>
              </a:lnSpc>
            </a:pP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41. </a:t>
            </a:r>
            <a:r>
              <a:rPr lang="fr-FR" sz="10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**BPQ050A**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high </a:t>
            </a:r>
            <a:r>
              <a:rPr lang="fr-FR" sz="10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fr-FR" sz="1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pressure.</a:t>
            </a:r>
          </a:p>
        </p:txBody>
      </p:sp>
    </p:spTree>
    <p:extLst>
      <p:ext uri="{BB962C8B-B14F-4D97-AF65-F5344CB8AC3E}">
        <p14:creationId xmlns:p14="http://schemas.microsoft.com/office/powerpoint/2010/main" val="35083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9052-ECEA-58F1-6E98-11524966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30F0713D-E926-6AE3-F4E2-0DB8A82B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97"/>
          <a:stretch/>
        </p:blipFill>
        <p:spPr>
          <a:xfrm>
            <a:off x="494621" y="1272158"/>
            <a:ext cx="6835050" cy="337485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7D3233C-1C4F-C30C-DFCE-EF139BBA3460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3DF51328-4698-A343-A7E5-807705BB0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468" y="1334152"/>
            <a:ext cx="4252312" cy="337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0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D113-8344-3A29-2424-F497275C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5D34D91-4EA9-CE81-0982-F18D5C0013C1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9CB7FF-B4C1-F97B-E69F-681B58D0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4" y="1590472"/>
            <a:ext cx="11513339" cy="339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39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04BD0-969B-DC36-42F2-D01692F6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C5FDAB3-ED9D-DC60-F5E0-69A2C5DC48C7}"/>
              </a:ext>
            </a:extLst>
          </p:cNvPr>
          <p:cNvSpPr txBox="1"/>
          <p:nvPr/>
        </p:nvSpPr>
        <p:spPr>
          <a:xfrm>
            <a:off x="601579" y="252664"/>
            <a:ext cx="7702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Step </a:t>
            </a:r>
            <a:r>
              <a:rPr lang="ru-RU" b="1" noProof="0" dirty="0"/>
              <a:t>2</a:t>
            </a:r>
            <a:r>
              <a:rPr lang="en-US" b="1" noProof="0" dirty="0"/>
              <a:t>: Target Selection – </a:t>
            </a:r>
            <a:r>
              <a:rPr lang="en-US" b="1" dirty="0" err="1"/>
              <a:t>MetS</a:t>
            </a:r>
            <a:r>
              <a:rPr lang="en-US" b="1" dirty="0"/>
              <a:t>, </a:t>
            </a:r>
            <a:r>
              <a:rPr lang="en-US" b="1" dirty="0" err="1"/>
              <a:t>Insulin_Resistance</a:t>
            </a:r>
            <a:r>
              <a:rPr lang="en-US" b="1" dirty="0"/>
              <a:t>  -&gt; Risque Diabetes ?  </a:t>
            </a:r>
            <a:endParaRPr lang="en-US" b="1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6EE9C8C-AB85-0DB3-DA38-CEA002A1F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09" y="774395"/>
            <a:ext cx="11513339" cy="339070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F8BF67-A7CE-24D7-1670-74FDF91A27A9}"/>
              </a:ext>
            </a:extLst>
          </p:cNvPr>
          <p:cNvSpPr txBox="1"/>
          <p:nvPr/>
        </p:nvSpPr>
        <p:spPr>
          <a:xfrm>
            <a:off x="169666" y="3809670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1. Метаболический синдром (</a:t>
            </a:r>
            <a:r>
              <a:rPr lang="fr-FR" sz="1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MetS</a:t>
            </a:r>
            <a:r>
              <a:rPr lang="fr-FR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Глюкоза в норме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Избыточный вес, ожирение, абдоминальный жир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Артериальная гипертензия, низкий уровень </a:t>
            </a:r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HDL, 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уровень триглицеридов</a:t>
            </a:r>
          </a:p>
          <a:p>
            <a:endParaRPr lang="ru-RU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 Уровень инсулина может быть повышен, но без инсулинорезистентности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999CFB-719E-649C-82B2-5CDD21A1F26F}"/>
              </a:ext>
            </a:extLst>
          </p:cNvPr>
          <p:cNvSpPr txBox="1"/>
          <p:nvPr/>
        </p:nvSpPr>
        <p:spPr>
          <a:xfrm>
            <a:off x="98322" y="506794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2. Инсулинорезистентность (</a:t>
            </a:r>
            <a:r>
              <a:rPr lang="fr-FR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IR) + </a:t>
            </a:r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компенсаторная </a:t>
            </a:r>
            <a:r>
              <a:rPr lang="ru-RU" sz="1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гиперинсулинемия</a:t>
            </a:r>
            <a:endParaRPr lang="ru-RU" sz="1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Глюкоза в норме, но уже повышен инсулин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Тканям (мышцам, печени, жировой ткани) сложнее усваивать глюкозу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Поджелудочная железа компенсирует это увеличением выработки инсулина</a:t>
            </a:r>
            <a:endParaRPr lang="en-US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 Пациент ещё не 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предиабетик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но риск высокий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D0661C2-3192-CCC8-6AC5-C02CD805FBE0}"/>
              </a:ext>
            </a:extLst>
          </p:cNvPr>
          <p:cNvSpPr txBox="1"/>
          <p:nvPr/>
        </p:nvSpPr>
        <p:spPr>
          <a:xfrm>
            <a:off x="6194322" y="380967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3. Нарушенная толерантность к глюкозе (</a:t>
            </a:r>
            <a:r>
              <a:rPr lang="ru-RU" sz="1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Предиабет</a:t>
            </a:r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Глюкоза на 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тощак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может быть в пределах 5.6-6.9 ммоль/л (100-125 мг/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Глюкоза после нагрузки (ОГТТ) – 7.8-11.0 ммоль/л (140-199 мг/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HbA1c – 5.7%-6.4%</a:t>
            </a:r>
          </a:p>
          <a:p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Инсулинорезистентность усиливается, но поджелудочная железа ещё компенсирует</a:t>
            </a:r>
            <a:endParaRPr lang="en-US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 Без контроля и образа жизни риск перехода в диабет – 30-50% за 5 лет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43540F-0093-8867-7610-D8BE39F10139}"/>
              </a:ext>
            </a:extLst>
          </p:cNvPr>
          <p:cNvSpPr txBox="1"/>
          <p:nvPr/>
        </p:nvSpPr>
        <p:spPr>
          <a:xfrm>
            <a:off x="6265666" y="5067941"/>
            <a:ext cx="6145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4. Диабет 2 типа (</a:t>
            </a:r>
            <a:r>
              <a:rPr lang="fr-FR" sz="1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T2D)</a:t>
            </a:r>
          </a:p>
          <a:p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Глюкоза натощак ≥7.0 ммоль/л (126 мг/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HbA1c ≥6.5%</a:t>
            </a:r>
          </a:p>
          <a:p>
            <a:r>
              <a:rPr lang="fr-FR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Глюкоза после еды ≥11.1 ммоль/л (200 мг/</a:t>
            </a:r>
            <a:r>
              <a:rPr lang="ru-RU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</a:t>
            </a:r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Поджелудочная железа истощается, инсулина становится недостаточно</a:t>
            </a:r>
          </a:p>
          <a:p>
            <a:r>
              <a:rPr lang="ru-RU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Развиваются осложнения – поражение сосудов, сердца, почек, нервной системы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BA5DA03-679A-703F-4B10-352B6429DFAC}"/>
              </a:ext>
            </a:extLst>
          </p:cNvPr>
          <p:cNvSpPr txBox="1"/>
          <p:nvPr/>
        </p:nvSpPr>
        <p:spPr>
          <a:xfrm>
            <a:off x="3217666" y="6172324"/>
            <a:ext cx="6204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Метаболический синдром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всегда приводит к диабету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но он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увеличивает риск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Инсулинорезистентность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без </a:t>
            </a:r>
            <a:r>
              <a:rPr lang="ru-RU" sz="9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предиабета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но если она усиливается → </a:t>
            </a:r>
            <a:r>
              <a:rPr lang="ru-RU" sz="9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предиабет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ru-RU" sz="9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Предиабет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момент для вмешательства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т.к. он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ещё обратим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Диабет 2 типа </a:t>
            </a:r>
            <a:r>
              <a:rPr lang="ru-RU" sz="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возникает, когда поджелудочная железа больше не справляется</a:t>
            </a:r>
            <a:r>
              <a:rPr lang="ru-RU" sz="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517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5CFF2C3-767E-AB12-2E9C-FBC8C70FDF9A}"/>
              </a:ext>
            </a:extLst>
          </p:cNvPr>
          <p:cNvSpPr txBox="1"/>
          <p:nvPr/>
        </p:nvSpPr>
        <p:spPr>
          <a:xfrm>
            <a:off x="601579" y="252664"/>
            <a:ext cx="2821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1 target</a:t>
            </a:r>
          </a:p>
        </p:txBody>
      </p:sp>
      <p:pic>
        <p:nvPicPr>
          <p:cNvPr id="4" name="Image 3" descr="Une image contenant texte, Police, algèbre&#10;&#10;Le contenu généré par l’IA peut être incorrect.">
            <a:extLst>
              <a:ext uri="{FF2B5EF4-FFF2-40B4-BE49-F238E27FC236}">
                <a16:creationId xmlns:a16="http://schemas.microsoft.com/office/drawing/2014/main" id="{E6751B20-F70C-8FD4-8B83-75F7BA767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7" y="890954"/>
            <a:ext cx="7772400" cy="1100156"/>
          </a:xfrm>
          <a:prstGeom prst="rect">
            <a:avLst/>
          </a:prstGeom>
        </p:spPr>
      </p:pic>
      <p:pic>
        <p:nvPicPr>
          <p:cNvPr id="10" name="Image 9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E12CCC3C-4905-A859-F509-255197D1E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85" y="1991110"/>
            <a:ext cx="1877646" cy="949740"/>
          </a:xfrm>
          <a:prstGeom prst="rect">
            <a:avLst/>
          </a:prstGeom>
        </p:spPr>
      </p:pic>
      <p:pic>
        <p:nvPicPr>
          <p:cNvPr id="12" name="Image 11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7719A1A-4D90-6F3B-4786-76ECF81F8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959" y="2160847"/>
            <a:ext cx="2182473" cy="610265"/>
          </a:xfrm>
          <a:prstGeom prst="rect">
            <a:avLst/>
          </a:prstGeom>
        </p:spPr>
      </p:pic>
      <p:pic>
        <p:nvPicPr>
          <p:cNvPr id="14" name="Image 13" descr="Une image contenant texte, reç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A15CA11-525E-50D9-AC93-B6243DE2A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2940850"/>
            <a:ext cx="2860430" cy="1323483"/>
          </a:xfrm>
          <a:prstGeom prst="rect">
            <a:avLst/>
          </a:prstGeom>
        </p:spPr>
      </p:pic>
      <p:pic>
        <p:nvPicPr>
          <p:cNvPr id="16" name="Image 1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EEABCFA-5878-8848-0D7A-577EB54BB7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960" y="1594339"/>
            <a:ext cx="3966993" cy="4372708"/>
          </a:xfrm>
          <a:prstGeom prst="rect">
            <a:avLst/>
          </a:prstGeom>
        </p:spPr>
      </p:pic>
      <p:pic>
        <p:nvPicPr>
          <p:cNvPr id="18" name="Image 17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297C8C01-9682-93A0-1F2E-5F98353F10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184" y="1547446"/>
            <a:ext cx="3741615" cy="4424517"/>
          </a:xfrm>
          <a:prstGeom prst="rect">
            <a:avLst/>
          </a:prstGeom>
        </p:spPr>
      </p:pic>
      <p:pic>
        <p:nvPicPr>
          <p:cNvPr id="20" name="Image 19" descr="Une image contenant texte, reç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F9DD1BF-051F-0E61-4B58-32BC73C65B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617" y="4434071"/>
            <a:ext cx="3093119" cy="144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2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7B53-AA9B-98C9-24B1-C7F38AD3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A666792-A8EE-CFDC-FA29-B0E1AC233679}"/>
              </a:ext>
            </a:extLst>
          </p:cNvPr>
          <p:cNvSpPr txBox="1"/>
          <p:nvPr/>
        </p:nvSpPr>
        <p:spPr>
          <a:xfrm>
            <a:off x="601579" y="252664"/>
            <a:ext cx="2821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1 target</a:t>
            </a:r>
          </a:p>
        </p:txBody>
      </p:sp>
      <p:pic>
        <p:nvPicPr>
          <p:cNvPr id="4" name="Image 3" descr="Une image contenant texte, Police, algèbre&#10;&#10;Le contenu généré par l’IA peut être incorrect.">
            <a:extLst>
              <a:ext uri="{FF2B5EF4-FFF2-40B4-BE49-F238E27FC236}">
                <a16:creationId xmlns:a16="http://schemas.microsoft.com/office/drawing/2014/main" id="{3D17012C-1191-8832-2289-72111441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8" y="768394"/>
            <a:ext cx="5010693" cy="709246"/>
          </a:xfrm>
          <a:prstGeom prst="rect">
            <a:avLst/>
          </a:prstGeom>
        </p:spPr>
      </p:pic>
      <p:pic>
        <p:nvPicPr>
          <p:cNvPr id="6" name="Image 5" descr="Une image contenant texte, Police, reçu, blanc&#10;&#10;Le contenu généré par l’IA peut être incorrect.">
            <a:extLst>
              <a:ext uri="{FF2B5EF4-FFF2-40B4-BE49-F238E27FC236}">
                <a16:creationId xmlns:a16="http://schemas.microsoft.com/office/drawing/2014/main" id="{5DBCDB0C-D12F-9709-5E11-7EB863E1E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48" y="1462916"/>
            <a:ext cx="2167090" cy="843408"/>
          </a:xfrm>
          <a:prstGeom prst="rect">
            <a:avLst/>
          </a:prstGeom>
        </p:spPr>
      </p:pic>
      <p:pic>
        <p:nvPicPr>
          <p:cNvPr id="5" name="Image 4" descr="Une image contenant texte, Police, ligne, nombre&#10;&#10;Le contenu généré par l’IA peut être incorrect.">
            <a:extLst>
              <a:ext uri="{FF2B5EF4-FFF2-40B4-BE49-F238E27FC236}">
                <a16:creationId xmlns:a16="http://schemas.microsoft.com/office/drawing/2014/main" id="{FDE1334D-D03D-4696-1A91-C1DB008D8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48" y="2360242"/>
            <a:ext cx="2679700" cy="812800"/>
          </a:xfrm>
          <a:prstGeom prst="rect">
            <a:avLst/>
          </a:prstGeom>
        </p:spPr>
      </p:pic>
      <p:pic>
        <p:nvPicPr>
          <p:cNvPr id="8" name="Image 7" descr="Une image contenant texte, capture d’écran, reçu, Police&#10;&#10;Le contenu généré par l’IA peut être incorrect.">
            <a:extLst>
              <a:ext uri="{FF2B5EF4-FFF2-40B4-BE49-F238E27FC236}">
                <a16:creationId xmlns:a16="http://schemas.microsoft.com/office/drawing/2014/main" id="{D9A019CD-2AAB-A9F1-1021-193EAE401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148" y="3226960"/>
            <a:ext cx="3234790" cy="1431323"/>
          </a:xfrm>
          <a:prstGeom prst="rect">
            <a:avLst/>
          </a:prstGeom>
        </p:spPr>
      </p:pic>
      <p:pic>
        <p:nvPicPr>
          <p:cNvPr id="10" name="Image 9" descr="Une image contenant texte, reçu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AAF8A8B-C86F-3370-31D1-61EE6AAF8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714" y="4658283"/>
            <a:ext cx="3386790" cy="1431322"/>
          </a:xfrm>
          <a:prstGeom prst="rect">
            <a:avLst/>
          </a:prstGeom>
        </p:spPr>
      </p:pic>
      <p:pic>
        <p:nvPicPr>
          <p:cNvPr id="12" name="Image 1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6BD1D823-B0CC-4B53-6728-DB22A59F0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3941" y="1338030"/>
            <a:ext cx="4093665" cy="4751575"/>
          </a:xfrm>
          <a:prstGeom prst="rect">
            <a:avLst/>
          </a:prstGeom>
        </p:spPr>
      </p:pic>
      <p:pic>
        <p:nvPicPr>
          <p:cNvPr id="14" name="Image 13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553C511-FD9B-AD3F-4798-888AD3A259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605" y="1251727"/>
            <a:ext cx="4087074" cy="461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09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86A4-6E12-49B5-6192-3C1A4EAC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442DF8D-8E68-DBB3-15F3-BDB1A98A025F}"/>
              </a:ext>
            </a:extLst>
          </p:cNvPr>
          <p:cNvSpPr txBox="1"/>
          <p:nvPr/>
        </p:nvSpPr>
        <p:spPr>
          <a:xfrm>
            <a:off x="601579" y="252664"/>
            <a:ext cx="642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target (</a:t>
            </a:r>
            <a:r>
              <a:rPr lang="en-US" sz="1800" b="1" dirty="0"/>
              <a:t>not diabetes/</a:t>
            </a:r>
            <a:r>
              <a:rPr lang="en-US" sz="1800" b="1" noProof="0" dirty="0"/>
              <a:t> prediabetes/</a:t>
            </a:r>
            <a:r>
              <a:rPr lang="en-US" sz="1800" b="1" dirty="0"/>
              <a:t> diabetes)</a:t>
            </a:r>
            <a:endParaRPr lang="en-US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A602D8-316D-0E7A-90EA-5B2AF8915482}"/>
              </a:ext>
            </a:extLst>
          </p:cNvPr>
          <p:cNvSpPr txBox="1"/>
          <p:nvPr/>
        </p:nvSpPr>
        <p:spPr>
          <a:xfrm>
            <a:off x="347500" y="909629"/>
            <a:ext cx="14093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Target :</a:t>
            </a:r>
          </a:p>
          <a:p>
            <a:r>
              <a:rPr lang="en-US" sz="1400" b="1" dirty="0"/>
              <a:t>0 – not diabetes</a:t>
            </a:r>
          </a:p>
          <a:p>
            <a:r>
              <a:rPr lang="en-US" sz="1400" b="1" noProof="0" dirty="0"/>
              <a:t>1 – prediabetes</a:t>
            </a:r>
          </a:p>
          <a:p>
            <a:r>
              <a:rPr lang="en-US" sz="1400" b="1" dirty="0"/>
              <a:t>2 - diabetes</a:t>
            </a:r>
            <a:endParaRPr lang="en-US" sz="1400" b="1" noProof="0" dirty="0"/>
          </a:p>
        </p:txBody>
      </p:sp>
      <p:pic>
        <p:nvPicPr>
          <p:cNvPr id="9" name="Image 8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87EF9DD1-4BFF-222A-BF26-8B94DA51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8" y="1957521"/>
            <a:ext cx="2311400" cy="9398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8FFB24C-5786-9504-52EF-FCBCB405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526" y="1703521"/>
            <a:ext cx="2336800" cy="723900"/>
          </a:xfrm>
          <a:prstGeom prst="rect">
            <a:avLst/>
          </a:prstGeom>
        </p:spPr>
      </p:pic>
      <p:pic>
        <p:nvPicPr>
          <p:cNvPr id="16" name="Image 15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E116B6DB-E215-708C-F8DA-472CACEAC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8" y="2897322"/>
            <a:ext cx="3157298" cy="1542148"/>
          </a:xfrm>
          <a:prstGeom prst="rect">
            <a:avLst/>
          </a:prstGeom>
        </p:spPr>
      </p:pic>
      <p:pic>
        <p:nvPicPr>
          <p:cNvPr id="18" name="Image 17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27C9A703-0825-2B0B-2039-5F7ABB177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30580"/>
            <a:ext cx="3422736" cy="1587356"/>
          </a:xfrm>
          <a:prstGeom prst="rect">
            <a:avLst/>
          </a:prstGeom>
        </p:spPr>
      </p:pic>
      <p:pic>
        <p:nvPicPr>
          <p:cNvPr id="20" name="Image 19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57FE698-4931-8F3F-0BF1-4E6B330CE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992" y="808892"/>
            <a:ext cx="4032767" cy="5005753"/>
          </a:xfrm>
          <a:prstGeom prst="rect">
            <a:avLst/>
          </a:prstGeom>
        </p:spPr>
      </p:pic>
      <p:pic>
        <p:nvPicPr>
          <p:cNvPr id="22" name="Image 21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B3BDA32F-8AB2-D6DF-4F68-D1D9BBE51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803" y="1262880"/>
            <a:ext cx="3872759" cy="433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48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DB2A6-697F-F428-E6E1-D64B6456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C1FBA5-62A0-A2A6-23B6-FA91B8E62998}"/>
              </a:ext>
            </a:extLst>
          </p:cNvPr>
          <p:cNvSpPr txBox="1"/>
          <p:nvPr/>
        </p:nvSpPr>
        <p:spPr>
          <a:xfrm>
            <a:off x="601579" y="252664"/>
            <a:ext cx="547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 target (</a:t>
            </a:r>
            <a:r>
              <a:rPr lang="en-US" sz="1800" b="1" dirty="0"/>
              <a:t>not diabetes/</a:t>
            </a:r>
            <a:r>
              <a:rPr lang="en-US" sz="1800" b="1" noProof="0" dirty="0"/>
              <a:t> prediabetes)</a:t>
            </a:r>
            <a:endParaRPr lang="en-US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6B66DC-80CC-EAFC-DF58-0B6CCCF06DE8}"/>
              </a:ext>
            </a:extLst>
          </p:cNvPr>
          <p:cNvSpPr txBox="1"/>
          <p:nvPr/>
        </p:nvSpPr>
        <p:spPr>
          <a:xfrm>
            <a:off x="347500" y="909629"/>
            <a:ext cx="14093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Target :</a:t>
            </a:r>
          </a:p>
          <a:p>
            <a:r>
              <a:rPr lang="en-US" sz="1400" b="1" dirty="0"/>
              <a:t>0 – not diabetes</a:t>
            </a:r>
          </a:p>
          <a:p>
            <a:r>
              <a:rPr lang="en-US" sz="1400" b="1" noProof="0" dirty="0"/>
              <a:t>1 – prediabetes</a:t>
            </a:r>
          </a:p>
        </p:txBody>
      </p:sp>
      <p:pic>
        <p:nvPicPr>
          <p:cNvPr id="5" name="Image 4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8A5EABA4-AAA4-5D54-BB86-1ED11E119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9" y="1648293"/>
            <a:ext cx="2387600" cy="876300"/>
          </a:xfrm>
          <a:prstGeom prst="rect">
            <a:avLst/>
          </a:prstGeom>
        </p:spPr>
      </p:pic>
      <p:pic>
        <p:nvPicPr>
          <p:cNvPr id="7" name="Image 6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19F3A696-CA1F-2514-8C72-14E084F8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694" y="1408622"/>
            <a:ext cx="2400300" cy="736600"/>
          </a:xfrm>
          <a:prstGeom prst="rect">
            <a:avLst/>
          </a:prstGeom>
        </p:spPr>
      </p:pic>
      <p:pic>
        <p:nvPicPr>
          <p:cNvPr id="10" name="Image 9" descr="Une image contenant texte, reç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0EC3AEF-44F1-1AF2-29C1-81CBDF0BC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00" y="2530008"/>
            <a:ext cx="3415608" cy="1452145"/>
          </a:xfrm>
          <a:prstGeom prst="rect">
            <a:avLst/>
          </a:prstGeom>
        </p:spPr>
      </p:pic>
      <p:pic>
        <p:nvPicPr>
          <p:cNvPr id="12" name="Image 11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C2CE0546-57C3-478B-35C8-6959C8AF6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84" y="4221824"/>
            <a:ext cx="3713021" cy="1563377"/>
          </a:xfrm>
          <a:prstGeom prst="rect">
            <a:avLst/>
          </a:prstGeom>
        </p:spPr>
      </p:pic>
      <p:pic>
        <p:nvPicPr>
          <p:cNvPr id="15" name="Image 1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FCD8CB2-319A-D86C-A865-3452DA56C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3159" y="1175880"/>
            <a:ext cx="3716784" cy="4506240"/>
          </a:xfrm>
          <a:prstGeom prst="rect">
            <a:avLst/>
          </a:prstGeom>
        </p:spPr>
      </p:pic>
      <p:pic>
        <p:nvPicPr>
          <p:cNvPr id="19" name="Image 1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2CC442B-0756-96E4-E523-34575C8F98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525" y="1245308"/>
            <a:ext cx="3746506" cy="43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35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8B0C-1446-C5E5-4769-9F12D321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794BCF1-DC31-6539-A379-0D42D49AE65D}"/>
              </a:ext>
            </a:extLst>
          </p:cNvPr>
          <p:cNvSpPr txBox="1"/>
          <p:nvPr/>
        </p:nvSpPr>
        <p:spPr>
          <a:xfrm>
            <a:off x="601579" y="252664"/>
            <a:ext cx="697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 target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Insulin_Resistance</a:t>
            </a:r>
            <a:r>
              <a:rPr lang="en-US" sz="1800" b="1" dirty="0"/>
              <a:t>/</a:t>
            </a:r>
            <a:r>
              <a:rPr lang="en-US" sz="1800" b="1" noProof="0" dirty="0"/>
              <a:t> 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Insulin_Resistance</a:t>
            </a:r>
            <a:r>
              <a:rPr lang="en-US" sz="1800" b="1" noProof="0" dirty="0"/>
              <a:t>)</a:t>
            </a:r>
            <a:endParaRPr lang="en-US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70131AE-114A-E750-0551-569DDCF9A27F}"/>
              </a:ext>
            </a:extLst>
          </p:cNvPr>
          <p:cNvSpPr txBox="1"/>
          <p:nvPr/>
        </p:nvSpPr>
        <p:spPr>
          <a:xfrm>
            <a:off x="347500" y="909629"/>
            <a:ext cx="21114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: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– not </a:t>
            </a:r>
            <a:r>
              <a:rPr lang="fr-FR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Insulin_Resistance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fr-FR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Insulin_Resistance</a:t>
            </a: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5D2AE3-D8A2-5EAA-E6EA-442F916D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31" y="1768845"/>
            <a:ext cx="1556988" cy="594486"/>
          </a:xfrm>
          <a:prstGeom prst="rect">
            <a:avLst/>
          </a:prstGeom>
        </p:spPr>
      </p:pic>
      <p:pic>
        <p:nvPicPr>
          <p:cNvPr id="9" name="Image 8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3FB4D4E0-927D-16C0-F6FC-972EE92C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071" y="1796499"/>
            <a:ext cx="2111475" cy="653034"/>
          </a:xfrm>
          <a:prstGeom prst="rect">
            <a:avLst/>
          </a:prstGeom>
        </p:spPr>
      </p:pic>
      <p:pic>
        <p:nvPicPr>
          <p:cNvPr id="13" name="Image 12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500B9DD8-1948-4064-27E0-87342A0EE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31" y="2647753"/>
            <a:ext cx="3652049" cy="1636378"/>
          </a:xfrm>
          <a:prstGeom prst="rect">
            <a:avLst/>
          </a:prstGeom>
        </p:spPr>
      </p:pic>
      <p:pic>
        <p:nvPicPr>
          <p:cNvPr id="16" name="Image 15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A8F67096-CB08-4D5D-679E-620FC3D6F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3" y="4277070"/>
            <a:ext cx="3964183" cy="1636378"/>
          </a:xfrm>
          <a:prstGeom prst="rect">
            <a:avLst/>
          </a:prstGeom>
        </p:spPr>
      </p:pic>
      <p:pic>
        <p:nvPicPr>
          <p:cNvPr id="18" name="Image 17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537D0A81-3EDC-1573-1061-EDFFDD06B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132" y="837091"/>
            <a:ext cx="4360033" cy="5183818"/>
          </a:xfrm>
          <a:prstGeom prst="rect">
            <a:avLst/>
          </a:prstGeom>
        </p:spPr>
      </p:pic>
      <p:pic>
        <p:nvPicPr>
          <p:cNvPr id="21" name="Image 20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7F19A4D1-9FCC-6680-0337-509B9079F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315" y="1071553"/>
            <a:ext cx="3936524" cy="45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21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83B3-7E27-CE2C-490C-F4D24350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E118541-FA5A-2B28-DBC6-6731C742A1B3}"/>
              </a:ext>
            </a:extLst>
          </p:cNvPr>
          <p:cNvSpPr txBox="1"/>
          <p:nvPr/>
        </p:nvSpPr>
        <p:spPr>
          <a:xfrm>
            <a:off x="601579" y="252664"/>
            <a:ext cx="938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Target Selection –  target (</a:t>
            </a:r>
            <a:r>
              <a:rPr lang="en-US" sz="1800" b="1" dirty="0"/>
              <a:t>not diabetes/</a:t>
            </a:r>
            <a:r>
              <a:rPr lang="en-US" sz="1800" b="1" noProof="0" dirty="0"/>
              <a:t> prediabetes)</a:t>
            </a:r>
            <a:r>
              <a:rPr lang="ru-RU" sz="1800" b="1" noProof="0" dirty="0"/>
              <a:t> </a:t>
            </a:r>
            <a:r>
              <a:rPr lang="en-US" sz="1800" b="1" noProof="0" dirty="0"/>
              <a:t>with features (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Insulin_Resistance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/Mets3)</a:t>
            </a:r>
            <a:endParaRPr lang="en-US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AC6834-617E-ABE0-F6DA-04782AADD63A}"/>
              </a:ext>
            </a:extLst>
          </p:cNvPr>
          <p:cNvSpPr txBox="1"/>
          <p:nvPr/>
        </p:nvSpPr>
        <p:spPr>
          <a:xfrm>
            <a:off x="347500" y="909629"/>
            <a:ext cx="14093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noProof="0" dirty="0"/>
              <a:t>Target :</a:t>
            </a:r>
          </a:p>
          <a:p>
            <a:r>
              <a:rPr lang="en-US" sz="1400" b="1" dirty="0"/>
              <a:t>0 – not diabetes</a:t>
            </a:r>
          </a:p>
          <a:p>
            <a:r>
              <a:rPr lang="en-US" sz="1400" b="1" noProof="0" dirty="0"/>
              <a:t>1 – prediabetes</a:t>
            </a:r>
          </a:p>
        </p:txBody>
      </p:sp>
      <p:pic>
        <p:nvPicPr>
          <p:cNvPr id="5" name="Image 4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F818759C-9643-662C-CC42-E1635E8B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" y="1648293"/>
            <a:ext cx="2012592" cy="738664"/>
          </a:xfrm>
          <a:prstGeom prst="rect">
            <a:avLst/>
          </a:prstGeom>
        </p:spPr>
      </p:pic>
      <p:pic>
        <p:nvPicPr>
          <p:cNvPr id="8" name="Image 7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C1D98BA1-5F08-84E2-606B-FAE63220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83" y="1587252"/>
            <a:ext cx="2377892" cy="637707"/>
          </a:xfrm>
          <a:prstGeom prst="rect">
            <a:avLst/>
          </a:prstGeom>
        </p:spPr>
      </p:pic>
      <p:pic>
        <p:nvPicPr>
          <p:cNvPr id="11" name="Image 10" descr="Une image contenant texte, reç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0CCEFA4-5822-0A8C-D296-E521C0902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19" y="2447998"/>
            <a:ext cx="2993577" cy="1293298"/>
          </a:xfrm>
          <a:prstGeom prst="rect">
            <a:avLst/>
          </a:prstGeom>
        </p:spPr>
      </p:pic>
      <p:pic>
        <p:nvPicPr>
          <p:cNvPr id="14" name="Image 13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D7853BB8-134E-DD8F-E700-AF06850EF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73" y="3903295"/>
            <a:ext cx="3090340" cy="1306412"/>
          </a:xfrm>
          <a:prstGeom prst="rect">
            <a:avLst/>
          </a:prstGeom>
        </p:spPr>
      </p:pic>
      <p:pic>
        <p:nvPicPr>
          <p:cNvPr id="17" name="Image 1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2ADD93C-9B25-884E-BF6E-3D2F800DF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3475" y="1104136"/>
            <a:ext cx="4030455" cy="4815528"/>
          </a:xfrm>
          <a:prstGeom prst="rect">
            <a:avLst/>
          </a:prstGeom>
        </p:spPr>
      </p:pic>
      <p:pic>
        <p:nvPicPr>
          <p:cNvPr id="20" name="Image 1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608157B9-40F2-AAAD-22F6-694E8AC6BD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930" y="1175316"/>
            <a:ext cx="3944679" cy="4507367"/>
          </a:xfrm>
          <a:prstGeom prst="rect">
            <a:avLst/>
          </a:prstGeom>
        </p:spPr>
      </p:pic>
      <p:pic>
        <p:nvPicPr>
          <p:cNvPr id="21" name="Image 20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8B943D91-8C26-69E9-8471-A8F6F9182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463" y="5868736"/>
            <a:ext cx="24003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4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E3A5BAC-BC78-0CEE-9945-F58927C8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7" y="926299"/>
            <a:ext cx="8654259" cy="4606993"/>
          </a:xfrm>
          <a:prstGeom prst="rect">
            <a:avLst/>
          </a:prstGeom>
        </p:spPr>
      </p:pic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D0C948BF-A4C9-B080-814A-AF47DA00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291" y="1512276"/>
            <a:ext cx="3160892" cy="9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48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8BF9-E472-8B93-3EF7-2D404474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E358169-204E-B9EA-DFAF-9BE6E298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6" y="1244221"/>
            <a:ext cx="7772400" cy="4369558"/>
          </a:xfrm>
          <a:prstGeom prst="rect">
            <a:avLst/>
          </a:prstGeom>
        </p:spPr>
      </p:pic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C392E25-2E9B-BC9F-AD43-59C290D4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016" y="1576754"/>
            <a:ext cx="3928868" cy="274906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F626E05-75FB-750A-9577-B9ED95FF1815}"/>
              </a:ext>
            </a:extLst>
          </p:cNvPr>
          <p:cNvSpPr txBox="1"/>
          <p:nvPr/>
        </p:nvSpPr>
        <p:spPr>
          <a:xfrm>
            <a:off x="855783" y="380131"/>
            <a:ext cx="7514493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6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**SLD012**</a:t>
            </a:r>
            <a:r>
              <a:rPr lang="fr-FR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Average</a:t>
            </a:r>
            <a:r>
              <a:rPr lang="fr-FR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sleep</a:t>
            </a:r>
            <a:r>
              <a:rPr lang="fr-FR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duration on 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weekdays</a:t>
            </a:r>
            <a:r>
              <a:rPr lang="fr-FR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4666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0215DD5-9F49-190D-535D-6AC0C962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0" y="2290884"/>
            <a:ext cx="5745432" cy="14956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8B1E8A8-90EA-6377-7F33-CDBC88C45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07" y="958934"/>
            <a:ext cx="11748985" cy="916757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A2AD8BF-29E4-026E-C049-59C6536D2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244882"/>
            <a:ext cx="5348654" cy="1541671"/>
          </a:xfrm>
          <a:prstGeom prst="rect">
            <a:avLst/>
          </a:prstGeom>
        </p:spPr>
      </p:pic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86EFB41-8745-A06D-691B-2B1C093C1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80" y="4132788"/>
            <a:ext cx="5685664" cy="1495669"/>
          </a:xfrm>
          <a:prstGeom prst="rect">
            <a:avLst/>
          </a:prstGeom>
        </p:spPr>
      </p:pic>
      <p:pic>
        <p:nvPicPr>
          <p:cNvPr id="11" name="Image 10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5E41A3B-0A44-94CE-7715-396717899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4132788"/>
            <a:ext cx="5920910" cy="154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21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BD6835-4E13-4B02-64DC-21B3019C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8" y="781051"/>
            <a:ext cx="11605846" cy="989551"/>
          </a:xfrm>
          <a:prstGeom prst="rect">
            <a:avLst/>
          </a:prstGeom>
        </p:spPr>
      </p:pic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FFA5B6D-600E-B2DF-828E-AD6FA4A33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04" y="1766240"/>
            <a:ext cx="5065394" cy="1500136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A8F4D92-62CA-3A22-C829-F753CC2FD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93" y="1766240"/>
            <a:ext cx="5747120" cy="1662759"/>
          </a:xfrm>
          <a:prstGeom prst="rect">
            <a:avLst/>
          </a:prstGeom>
        </p:spPr>
      </p:pic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861C64B-D3A8-2331-6CD3-E7016E0E9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08" y="3820747"/>
            <a:ext cx="5176290" cy="1294073"/>
          </a:xfrm>
          <a:prstGeom prst="rect">
            <a:avLst/>
          </a:prstGeom>
        </p:spPr>
      </p:pic>
      <p:pic>
        <p:nvPicPr>
          <p:cNvPr id="11" name="Image 10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544CBBB-C85A-F35D-9452-5CF579FF6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798" y="3627729"/>
            <a:ext cx="6554648" cy="166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76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E3D6-C9AF-F3ED-E175-52034D97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1CE511-8A19-E7AC-BA0D-EB091DFF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8" y="763160"/>
            <a:ext cx="12071023" cy="1053916"/>
          </a:xfrm>
          <a:prstGeom prst="rect">
            <a:avLst/>
          </a:prstGeom>
        </p:spPr>
      </p:pic>
      <p:pic>
        <p:nvPicPr>
          <p:cNvPr id="4" name="Image 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528A3C2A-708C-D9A7-EBA0-C8F898803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420" y="1290118"/>
            <a:ext cx="4113335" cy="495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35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D8CA4B1-D205-3BE7-54A1-188F29B64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8" y="763160"/>
            <a:ext cx="12071023" cy="1053916"/>
          </a:xfrm>
          <a:prstGeom prst="rect">
            <a:avLst/>
          </a:prstGeom>
        </p:spPr>
      </p:pic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3A68AC5-E037-0615-B620-09DE260C6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8" y="1928446"/>
            <a:ext cx="5174988" cy="1500554"/>
          </a:xfrm>
          <a:prstGeom prst="rect">
            <a:avLst/>
          </a:prstGeom>
        </p:spPr>
      </p:pic>
      <p:pic>
        <p:nvPicPr>
          <p:cNvPr id="7" name="Image 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12798A2-42A8-2904-CD59-CD7FA1AE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246" y="1817076"/>
            <a:ext cx="5274408" cy="1534540"/>
          </a:xfrm>
          <a:prstGeom prst="rect">
            <a:avLst/>
          </a:prstGeom>
        </p:spPr>
      </p:pic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8263EA4-8536-F6A3-9F2C-572F17B45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6677"/>
            <a:ext cx="5556105" cy="1500554"/>
          </a:xfrm>
          <a:prstGeom prst="rect">
            <a:avLst/>
          </a:prstGeom>
        </p:spPr>
      </p:pic>
      <p:pic>
        <p:nvPicPr>
          <p:cNvPr id="11" name="Image 10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F1D740C-B0B0-33EC-99B3-6EA999B6D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2246" y="3649741"/>
            <a:ext cx="5638800" cy="154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76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1666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13201</TotalTime>
  <Words>800</Words>
  <Application>Microsoft Macintosh PowerPoint</Application>
  <PresentationFormat>Grand écran</PresentationFormat>
  <Paragraphs>102</Paragraphs>
  <Slides>25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Calisto MT</vt:lpstr>
      <vt:lpstr>Menlo</vt:lpstr>
      <vt:lpstr>Times New Roman</vt:lpstr>
      <vt:lpstr>Univers Condensed</vt:lpstr>
      <vt:lpstr>ChronicleVTI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Artyom G</dc:creator>
  <cp:lastModifiedBy>Artyom G</cp:lastModifiedBy>
  <cp:revision>3</cp:revision>
  <dcterms:created xsi:type="dcterms:W3CDTF">2025-02-19T16:50:52Z</dcterms:created>
  <dcterms:modified xsi:type="dcterms:W3CDTF">2025-03-20T10:40:11Z</dcterms:modified>
</cp:coreProperties>
</file>