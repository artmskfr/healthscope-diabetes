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3" r:id="rId1"/>
  </p:sldMasterIdLst>
  <p:notesMasterIdLst>
    <p:notesMasterId r:id="rId14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37"/>
    <p:restoredTop sz="84148"/>
  </p:normalViewPr>
  <p:slideViewPr>
    <p:cSldViewPr snapToGrid="0">
      <p:cViewPr>
        <p:scale>
          <a:sx n="130" d="100"/>
          <a:sy n="130" d="100"/>
        </p:scale>
        <p:origin x="712" y="-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26D4C1-77E5-FD45-83F7-933CF44FBC75}" type="datetimeFigureOut">
              <a:rPr lang="fr-FR" smtClean="0"/>
              <a:t>19/02/2025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CABE3C8-931F-3C4D-A437-5B5070D0012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860260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ABE3C8-931F-3C4D-A437-5B5070D00121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032496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ABE3C8-931F-3C4D-A437-5B5070D00121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327590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08434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31410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9726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2/19/25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60925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2/19/25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0083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2/19/25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144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2/19/25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037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2/19/25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6946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2/19/25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0627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19949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5414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25362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8FE95149-4668-EC30-CBE4-49F2EDD377DA}"/>
              </a:ext>
            </a:extLst>
          </p:cNvPr>
          <p:cNvSpPr txBox="1"/>
          <p:nvPr/>
        </p:nvSpPr>
        <p:spPr>
          <a:xfrm>
            <a:off x="601579" y="252664"/>
            <a:ext cx="106066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 dirty="0"/>
              <a:t>Step 1: Target Selection – Diabetes. Removing Missing Data. Feature Importance Analysis with SHAP.</a:t>
            </a:r>
            <a:endParaRPr lang="en-US" noProof="0" dirty="0"/>
          </a:p>
          <a:p>
            <a:endParaRPr lang="en-US" b="1" noProof="0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BCC39681-7A76-E19D-E36B-6364880549DC}"/>
              </a:ext>
            </a:extLst>
          </p:cNvPr>
          <p:cNvSpPr txBox="1"/>
          <p:nvPr/>
        </p:nvSpPr>
        <p:spPr>
          <a:xfrm>
            <a:off x="601579" y="970548"/>
            <a:ext cx="12202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noProof="0" dirty="0"/>
              <a:t>Full dataset :</a:t>
            </a:r>
          </a:p>
        </p:txBody>
      </p:sp>
      <p:pic>
        <p:nvPicPr>
          <p:cNvPr id="5" name="Image 4" descr="Une image contenant texte, reçu, Police, algèbre&#10;&#10;Le contenu généré par l’IA peut être incorrect.">
            <a:extLst>
              <a:ext uri="{FF2B5EF4-FFF2-40B4-BE49-F238E27FC236}">
                <a16:creationId xmlns:a16="http://schemas.microsoft.com/office/drawing/2014/main" id="{2F73FF73-6AD0-DE61-0BEF-758B6C47DC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7034" r="44075" b="9008"/>
          <a:stretch/>
        </p:blipFill>
        <p:spPr>
          <a:xfrm>
            <a:off x="3797192" y="2115044"/>
            <a:ext cx="1491720" cy="954107"/>
          </a:xfrm>
          <a:prstGeom prst="rect">
            <a:avLst/>
          </a:prstGeom>
        </p:spPr>
      </p:pic>
      <p:pic>
        <p:nvPicPr>
          <p:cNvPr id="6" name="Image 5" descr="Une image contenant texte, reçu, Police, algèbre&#10;&#10;Le contenu généré par l’IA peut être incorrect.">
            <a:extLst>
              <a:ext uri="{FF2B5EF4-FFF2-40B4-BE49-F238E27FC236}">
                <a16:creationId xmlns:a16="http://schemas.microsoft.com/office/drawing/2014/main" id="{E7226E27-7A48-5532-3388-72CDB2A5ED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4048"/>
          <a:stretch/>
        </p:blipFill>
        <p:spPr>
          <a:xfrm>
            <a:off x="301969" y="1295015"/>
            <a:ext cx="2764885" cy="292389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97E97373-7D48-EA0A-A2F6-ED009CE7F045}"/>
              </a:ext>
            </a:extLst>
          </p:cNvPr>
          <p:cNvSpPr txBox="1"/>
          <p:nvPr/>
        </p:nvSpPr>
        <p:spPr>
          <a:xfrm>
            <a:off x="628854" y="1718522"/>
            <a:ext cx="1409360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noProof="0" dirty="0"/>
              <a:t>Target :</a:t>
            </a:r>
          </a:p>
          <a:p>
            <a:r>
              <a:rPr lang="en-US" sz="1400" b="1" dirty="0"/>
              <a:t>0 – not diabetes</a:t>
            </a:r>
          </a:p>
          <a:p>
            <a:r>
              <a:rPr lang="en-US" sz="1400" b="1" noProof="0" dirty="0"/>
              <a:t>1 – prediabetes</a:t>
            </a:r>
          </a:p>
          <a:p>
            <a:r>
              <a:rPr lang="en-US" sz="1400" b="1" dirty="0"/>
              <a:t>2 - diabetes</a:t>
            </a:r>
            <a:endParaRPr lang="en-US" sz="1400" b="1" noProof="0" dirty="0"/>
          </a:p>
        </p:txBody>
      </p:sp>
      <p:pic>
        <p:nvPicPr>
          <p:cNvPr id="11" name="Image 10" descr="Une image contenant texte, capture d’écran, Police, algèbre&#10;&#10;Le contenu généré par l’IA peut être incorrect.">
            <a:extLst>
              <a:ext uri="{FF2B5EF4-FFF2-40B4-BE49-F238E27FC236}">
                <a16:creationId xmlns:a16="http://schemas.microsoft.com/office/drawing/2014/main" id="{DAEB98A0-F304-18CA-9B00-7E3225F73E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343" y="2981708"/>
            <a:ext cx="3273191" cy="3019908"/>
          </a:xfrm>
          <a:prstGeom prst="rect">
            <a:avLst/>
          </a:prstGeom>
        </p:spPr>
      </p:pic>
      <p:pic>
        <p:nvPicPr>
          <p:cNvPr id="13" name="Image 12" descr="Une image contenant texte, outil, conception&#10;&#10;Le contenu généré par l’IA peut être incorrect.">
            <a:extLst>
              <a:ext uri="{FF2B5EF4-FFF2-40B4-BE49-F238E27FC236}">
                <a16:creationId xmlns:a16="http://schemas.microsoft.com/office/drawing/2014/main" id="{3EF9DB76-CDDD-629D-FC96-779C879447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3511" y="992888"/>
            <a:ext cx="1490193" cy="841237"/>
          </a:xfrm>
          <a:prstGeom prst="rect">
            <a:avLst/>
          </a:prstGeom>
        </p:spPr>
      </p:pic>
      <p:pic>
        <p:nvPicPr>
          <p:cNvPr id="14" name="Image 13" descr="Une image contenant texte, reçu, Police, algèbre&#10;&#10;Le contenu généré par l’IA peut être incorrect.">
            <a:extLst>
              <a:ext uri="{FF2B5EF4-FFF2-40B4-BE49-F238E27FC236}">
                <a16:creationId xmlns:a16="http://schemas.microsoft.com/office/drawing/2014/main" id="{D7698AE9-365F-271D-648C-9DF3D34F41D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8048"/>
          <a:stretch/>
        </p:blipFill>
        <p:spPr>
          <a:xfrm>
            <a:off x="3388516" y="3587246"/>
            <a:ext cx="2543934" cy="538838"/>
          </a:xfrm>
          <a:prstGeom prst="rect">
            <a:avLst/>
          </a:prstGeom>
        </p:spPr>
      </p:pic>
      <p:sp>
        <p:nvSpPr>
          <p:cNvPr id="15" name="ZoneTexte 14">
            <a:extLst>
              <a:ext uri="{FF2B5EF4-FFF2-40B4-BE49-F238E27FC236}">
                <a16:creationId xmlns:a16="http://schemas.microsoft.com/office/drawing/2014/main" id="{4974EFC0-7BDF-FDB1-CB1E-72611D16926A}"/>
              </a:ext>
            </a:extLst>
          </p:cNvPr>
          <p:cNvSpPr txBox="1"/>
          <p:nvPr/>
        </p:nvSpPr>
        <p:spPr>
          <a:xfrm>
            <a:off x="4352517" y="774431"/>
            <a:ext cx="5629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noProof="0" dirty="0" err="1"/>
              <a:t>NaN</a:t>
            </a:r>
            <a:endParaRPr lang="en-US" sz="1400" b="1" noProof="0" dirty="0"/>
          </a:p>
        </p:txBody>
      </p:sp>
      <p:sp>
        <p:nvSpPr>
          <p:cNvPr id="16" name="Flèche vers le bas 15">
            <a:extLst>
              <a:ext uri="{FF2B5EF4-FFF2-40B4-BE49-F238E27FC236}">
                <a16:creationId xmlns:a16="http://schemas.microsoft.com/office/drawing/2014/main" id="{1FA1F56C-8A1E-93DE-CD9E-4B0B7520C5D7}"/>
              </a:ext>
            </a:extLst>
          </p:cNvPr>
          <p:cNvSpPr/>
          <p:nvPr/>
        </p:nvSpPr>
        <p:spPr>
          <a:xfrm>
            <a:off x="4606275" y="1834125"/>
            <a:ext cx="164683" cy="309079"/>
          </a:xfrm>
          <a:prstGeom prst="downArrow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Flèche vers le bas 16">
            <a:extLst>
              <a:ext uri="{FF2B5EF4-FFF2-40B4-BE49-F238E27FC236}">
                <a16:creationId xmlns:a16="http://schemas.microsoft.com/office/drawing/2014/main" id="{E1DEE968-D223-B262-55E2-E1949E341069}"/>
              </a:ext>
            </a:extLst>
          </p:cNvPr>
          <p:cNvSpPr/>
          <p:nvPr/>
        </p:nvSpPr>
        <p:spPr>
          <a:xfrm>
            <a:off x="4551664" y="3167379"/>
            <a:ext cx="164683" cy="309079"/>
          </a:xfrm>
          <a:prstGeom prst="downArrow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5" name="Image 24" descr="Une image contenant texte, capture d’écran, nombre, Police&#10;&#10;Le contenu généré par l’IA peut être incorrect.">
            <a:extLst>
              <a:ext uri="{FF2B5EF4-FFF2-40B4-BE49-F238E27FC236}">
                <a16:creationId xmlns:a16="http://schemas.microsoft.com/office/drawing/2014/main" id="{B612F116-FF23-5079-72D0-11CD2442E7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1014" y="1103056"/>
            <a:ext cx="5040015" cy="3037817"/>
          </a:xfrm>
          <a:prstGeom prst="rect">
            <a:avLst/>
          </a:prstGeom>
        </p:spPr>
      </p:pic>
      <p:sp>
        <p:nvSpPr>
          <p:cNvPr id="26" name="ZoneTexte 25">
            <a:extLst>
              <a:ext uri="{FF2B5EF4-FFF2-40B4-BE49-F238E27FC236}">
                <a16:creationId xmlns:a16="http://schemas.microsoft.com/office/drawing/2014/main" id="{5683E747-594A-B61A-E0D2-1C21D14FD6A0}"/>
              </a:ext>
            </a:extLst>
          </p:cNvPr>
          <p:cNvSpPr txBox="1"/>
          <p:nvPr/>
        </p:nvSpPr>
        <p:spPr>
          <a:xfrm>
            <a:off x="7310488" y="729298"/>
            <a:ext cx="37626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noProof="0" dirty="0"/>
              <a:t>Removing Columns with &gt;55% Missing Data</a:t>
            </a:r>
            <a:endParaRPr lang="en-US" sz="1400" noProof="0" dirty="0"/>
          </a:p>
        </p:txBody>
      </p:sp>
      <p:sp>
        <p:nvSpPr>
          <p:cNvPr id="27" name="Flèche vers le bas 26">
            <a:extLst>
              <a:ext uri="{FF2B5EF4-FFF2-40B4-BE49-F238E27FC236}">
                <a16:creationId xmlns:a16="http://schemas.microsoft.com/office/drawing/2014/main" id="{A080A916-76EE-C261-430B-62C27D8B299B}"/>
              </a:ext>
            </a:extLst>
          </p:cNvPr>
          <p:cNvSpPr/>
          <p:nvPr/>
        </p:nvSpPr>
        <p:spPr>
          <a:xfrm>
            <a:off x="9401128" y="4172884"/>
            <a:ext cx="164683" cy="309079"/>
          </a:xfrm>
          <a:prstGeom prst="downArrow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83B1A623-346E-C054-B9B6-F2238CD8D49A}"/>
              </a:ext>
            </a:extLst>
          </p:cNvPr>
          <p:cNvSpPr txBox="1"/>
          <p:nvPr/>
        </p:nvSpPr>
        <p:spPr>
          <a:xfrm>
            <a:off x="9565811" y="4140873"/>
            <a:ext cx="15674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noProof="0" dirty="0"/>
              <a:t>+ removing rows </a:t>
            </a:r>
          </a:p>
        </p:txBody>
      </p:sp>
      <p:pic>
        <p:nvPicPr>
          <p:cNvPr id="30" name="Image 29">
            <a:extLst>
              <a:ext uri="{FF2B5EF4-FFF2-40B4-BE49-F238E27FC236}">
                <a16:creationId xmlns:a16="http://schemas.microsoft.com/office/drawing/2014/main" id="{25B5AF37-1524-B7EA-1485-E5B4EE8F98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03456" y="4473276"/>
            <a:ext cx="2764885" cy="334217"/>
          </a:xfrm>
          <a:prstGeom prst="rect">
            <a:avLst/>
          </a:prstGeom>
        </p:spPr>
      </p:pic>
      <p:pic>
        <p:nvPicPr>
          <p:cNvPr id="32" name="Image 31" descr="Une image contenant texte, Police, reçu, blanc&#10;&#10;Le contenu généré par l’IA peut être incorrect.">
            <a:extLst>
              <a:ext uri="{FF2B5EF4-FFF2-40B4-BE49-F238E27FC236}">
                <a16:creationId xmlns:a16="http://schemas.microsoft.com/office/drawing/2014/main" id="{6D95B357-7AC9-CBA3-66A1-1B6DFA5314D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34671" y="4904719"/>
            <a:ext cx="2233670" cy="1063652"/>
          </a:xfrm>
          <a:prstGeom prst="rect">
            <a:avLst/>
          </a:prstGeom>
        </p:spPr>
      </p:pic>
      <p:pic>
        <p:nvPicPr>
          <p:cNvPr id="34" name="Image 33" descr="Une image contenant texte, reçu, Police, algèbre&#10;&#10;Le contenu généré par l’IA peut être incorrect.">
            <a:extLst>
              <a:ext uri="{FF2B5EF4-FFF2-40B4-BE49-F238E27FC236}">
                <a16:creationId xmlns:a16="http://schemas.microsoft.com/office/drawing/2014/main" id="{3A7D3872-54FC-A633-C199-8BDD78135A4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57277" y="4408542"/>
            <a:ext cx="1918256" cy="1470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43602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AAA7B4A4-9B35-3796-72A3-0B3C4FAF40E9}"/>
              </a:ext>
            </a:extLst>
          </p:cNvPr>
          <p:cNvSpPr txBox="1"/>
          <p:nvPr/>
        </p:nvSpPr>
        <p:spPr>
          <a:xfrm>
            <a:off x="601579" y="252664"/>
            <a:ext cx="106066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 dirty="0"/>
              <a:t>Step 1: Target Selection – Diabetes. Removing Missing Data. Feature Importance Analysis with SHAP.</a:t>
            </a:r>
            <a:endParaRPr lang="en-US" noProof="0" dirty="0"/>
          </a:p>
          <a:p>
            <a:endParaRPr lang="en-US" b="1" noProof="0" dirty="0"/>
          </a:p>
        </p:txBody>
      </p:sp>
      <p:pic>
        <p:nvPicPr>
          <p:cNvPr id="4" name="Image 3" descr="Une image contenant texte, capture d’écran, diagramme, Rectangle&#10;&#10;Le contenu généré par l’IA peut être incorrect.">
            <a:extLst>
              <a:ext uri="{FF2B5EF4-FFF2-40B4-BE49-F238E27FC236}">
                <a16:creationId xmlns:a16="http://schemas.microsoft.com/office/drawing/2014/main" id="{52E11048-2D79-714A-68B1-07BC465DADA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5680"/>
          <a:stretch/>
        </p:blipFill>
        <p:spPr>
          <a:xfrm>
            <a:off x="61951" y="1278325"/>
            <a:ext cx="5080000" cy="2312558"/>
          </a:xfrm>
          <a:prstGeom prst="rect">
            <a:avLst/>
          </a:prstGeom>
        </p:spPr>
      </p:pic>
      <p:pic>
        <p:nvPicPr>
          <p:cNvPr id="5" name="Image 4" descr="Une image contenant texte, capture d’écran, diagramme, Rectangle&#10;&#10;Le contenu généré par l’IA peut être incorrect.">
            <a:extLst>
              <a:ext uri="{FF2B5EF4-FFF2-40B4-BE49-F238E27FC236}">
                <a16:creationId xmlns:a16="http://schemas.microsoft.com/office/drawing/2014/main" id="{56C08B79-F2D2-D0DD-E666-A38EF37FA9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3641" r="56885"/>
          <a:stretch/>
        </p:blipFill>
        <p:spPr>
          <a:xfrm>
            <a:off x="355406" y="3898660"/>
            <a:ext cx="4207728" cy="2164552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F036409A-0B3A-22DA-FBAC-F281704780E5}"/>
              </a:ext>
            </a:extLst>
          </p:cNvPr>
          <p:cNvSpPr txBox="1"/>
          <p:nvPr/>
        </p:nvSpPr>
        <p:spPr>
          <a:xfrm>
            <a:off x="601579" y="970548"/>
            <a:ext cx="7248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noProof="0" dirty="0"/>
              <a:t>Train :</a:t>
            </a:r>
          </a:p>
        </p:txBody>
      </p:sp>
      <p:pic>
        <p:nvPicPr>
          <p:cNvPr id="8" name="Image 7" descr="Une image contenant capture d’écran, Rectangle, diagramme, ligne&#10;&#10;Le contenu généré par l’IA peut être incorrect.">
            <a:extLst>
              <a:ext uri="{FF2B5EF4-FFF2-40B4-BE49-F238E27FC236}">
                <a16:creationId xmlns:a16="http://schemas.microsoft.com/office/drawing/2014/main" id="{3C9B4162-CCC2-63BF-CDA9-3B37BB4EC6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2169" y="1248509"/>
            <a:ext cx="6288252" cy="2342374"/>
          </a:xfrm>
          <a:prstGeom prst="rect">
            <a:avLst/>
          </a:prstGeom>
        </p:spPr>
      </p:pic>
      <p:pic>
        <p:nvPicPr>
          <p:cNvPr id="10" name="Image 9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9F011B22-45CD-046C-4801-9BB94E3883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649" y="3947530"/>
            <a:ext cx="4350409" cy="1996070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F5F024B0-9C30-3460-2B4A-1F032E0917B0}"/>
              </a:ext>
            </a:extLst>
          </p:cNvPr>
          <p:cNvSpPr txBox="1"/>
          <p:nvPr/>
        </p:nvSpPr>
        <p:spPr>
          <a:xfrm>
            <a:off x="5733593" y="919863"/>
            <a:ext cx="6248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noProof="0" dirty="0"/>
              <a:t>Test :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4348A015-41CB-1924-465B-391EE21637A7}"/>
              </a:ext>
            </a:extLst>
          </p:cNvPr>
          <p:cNvSpPr txBox="1"/>
          <p:nvPr/>
        </p:nvSpPr>
        <p:spPr>
          <a:xfrm>
            <a:off x="377284" y="6343726"/>
            <a:ext cx="465704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sz="1100" b="1" noProof="0" dirty="0"/>
              <a:t>* Using Fasting Glucose (LBDGLUSI) and HbA1c (LBXGH) as features</a:t>
            </a:r>
          </a:p>
        </p:txBody>
      </p:sp>
    </p:spTree>
    <p:extLst>
      <p:ext uri="{BB962C8B-B14F-4D97-AF65-F5344CB8AC3E}">
        <p14:creationId xmlns:p14="http://schemas.microsoft.com/office/powerpoint/2010/main" val="32910964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D92C8-4F4D-D88B-AE6D-05FBE15602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94FC28FB-5632-88B1-2F1A-63108EE0D0CE}"/>
              </a:ext>
            </a:extLst>
          </p:cNvPr>
          <p:cNvSpPr txBox="1"/>
          <p:nvPr/>
        </p:nvSpPr>
        <p:spPr>
          <a:xfrm>
            <a:off x="601579" y="252664"/>
            <a:ext cx="106066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 dirty="0"/>
              <a:t>Step 1: Target Selection – Diabetes. Removing Missing Data. Feature Importance Analysis with SHAP.</a:t>
            </a:r>
            <a:endParaRPr lang="en-US" noProof="0" dirty="0"/>
          </a:p>
          <a:p>
            <a:endParaRPr lang="en-US" b="1" noProof="0" dirty="0"/>
          </a:p>
        </p:txBody>
      </p:sp>
      <p:pic>
        <p:nvPicPr>
          <p:cNvPr id="7" name="Image 6" descr="Une image contenant texte, capture d’écran, Police, conception&#10;&#10;Le contenu généré par l’IA peut être incorrect.">
            <a:extLst>
              <a:ext uri="{FF2B5EF4-FFF2-40B4-BE49-F238E27FC236}">
                <a16:creationId xmlns:a16="http://schemas.microsoft.com/office/drawing/2014/main" id="{D5C37205-5AD9-04ED-8BFE-C7D8E8192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284" y="1062647"/>
            <a:ext cx="4724400" cy="4978400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C01D5BA2-0B5D-297F-0D25-A44F1A1399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2991" y="1250815"/>
            <a:ext cx="5112265" cy="4790232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0FEC687C-F365-77B0-23AC-FF02DB526232}"/>
              </a:ext>
            </a:extLst>
          </p:cNvPr>
          <p:cNvSpPr txBox="1"/>
          <p:nvPr/>
        </p:nvSpPr>
        <p:spPr>
          <a:xfrm>
            <a:off x="6012373" y="745106"/>
            <a:ext cx="18325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noProof="0" dirty="0"/>
              <a:t>Class 2, descending :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D983E613-8373-68F3-5A65-0F2CA3E342C2}"/>
              </a:ext>
            </a:extLst>
          </p:cNvPr>
          <p:cNvSpPr txBox="1"/>
          <p:nvPr/>
        </p:nvSpPr>
        <p:spPr>
          <a:xfrm>
            <a:off x="210474" y="745106"/>
            <a:ext cx="32505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noProof="0" dirty="0"/>
              <a:t>Features sorted by SHAP importance :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FCF567C4-0B9E-C9D5-0CA4-380E80D6041E}"/>
              </a:ext>
            </a:extLst>
          </p:cNvPr>
          <p:cNvSpPr txBox="1"/>
          <p:nvPr/>
        </p:nvSpPr>
        <p:spPr>
          <a:xfrm>
            <a:off x="377284" y="6343726"/>
            <a:ext cx="465704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sz="1100" b="1" noProof="0" dirty="0"/>
              <a:t>* Using Fasting Glucose (LBDGLUSI) and HbA1c (LBXGH) as features</a:t>
            </a:r>
          </a:p>
        </p:txBody>
      </p:sp>
    </p:spTree>
    <p:extLst>
      <p:ext uri="{BB962C8B-B14F-4D97-AF65-F5344CB8AC3E}">
        <p14:creationId xmlns:p14="http://schemas.microsoft.com/office/powerpoint/2010/main" val="35625293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7664C-5A08-4E97-91AC-36F2E5B12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397F713C-9A6E-2478-FF9E-92B7EDBC51E6}"/>
              </a:ext>
            </a:extLst>
          </p:cNvPr>
          <p:cNvSpPr txBox="1"/>
          <p:nvPr/>
        </p:nvSpPr>
        <p:spPr>
          <a:xfrm>
            <a:off x="601579" y="252664"/>
            <a:ext cx="106066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 dirty="0"/>
              <a:t>Step 1: Target Selection – Diabetes. Removing Missing Data. Feature Importance Analysis with SHAP.</a:t>
            </a:r>
            <a:endParaRPr lang="en-US" noProof="0" dirty="0"/>
          </a:p>
          <a:p>
            <a:endParaRPr lang="en-US" b="1" noProof="0" dirty="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6A81BFE5-8005-E98C-943F-5915509D52AE}"/>
              </a:ext>
            </a:extLst>
          </p:cNvPr>
          <p:cNvSpPr txBox="1"/>
          <p:nvPr/>
        </p:nvSpPr>
        <p:spPr>
          <a:xfrm>
            <a:off x="377284" y="6343726"/>
            <a:ext cx="489749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sz="1100" b="1" noProof="0" dirty="0"/>
              <a:t>* Not </a:t>
            </a:r>
            <a:r>
              <a:rPr lang="en-AU" sz="1100" b="1" dirty="0"/>
              <a:t>u</a:t>
            </a:r>
            <a:r>
              <a:rPr lang="en-AU" sz="1100" b="1" noProof="0" dirty="0"/>
              <a:t>sing Fasting Glucose (LBDGLUSI) and HbA1c (LBXGH) as features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B5AFF641-2DCF-B3F3-4A38-35F7C23BA172}"/>
              </a:ext>
            </a:extLst>
          </p:cNvPr>
          <p:cNvSpPr txBox="1"/>
          <p:nvPr/>
        </p:nvSpPr>
        <p:spPr>
          <a:xfrm>
            <a:off x="601579" y="970548"/>
            <a:ext cx="7248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noProof="0" dirty="0"/>
              <a:t>Train :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4E19798-36BD-D7C6-CCD1-B2EEC6A3AEE6}"/>
              </a:ext>
            </a:extLst>
          </p:cNvPr>
          <p:cNvSpPr txBox="1"/>
          <p:nvPr/>
        </p:nvSpPr>
        <p:spPr>
          <a:xfrm>
            <a:off x="5733593" y="919863"/>
            <a:ext cx="6248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noProof="0" dirty="0"/>
              <a:t>Test :</a:t>
            </a:r>
          </a:p>
        </p:txBody>
      </p:sp>
      <p:pic>
        <p:nvPicPr>
          <p:cNvPr id="6" name="Image 5" descr="Une image contenant texte, capture d’écran, diagramme, Rectangle&#10;&#10;Le contenu généré par l’IA peut être incorrect.">
            <a:extLst>
              <a:ext uri="{FF2B5EF4-FFF2-40B4-BE49-F238E27FC236}">
                <a16:creationId xmlns:a16="http://schemas.microsoft.com/office/drawing/2014/main" id="{597FF550-3026-9970-E160-A6A4F0B1183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26" b="34433"/>
          <a:stretch/>
        </p:blipFill>
        <p:spPr>
          <a:xfrm>
            <a:off x="0" y="1522801"/>
            <a:ext cx="5892583" cy="2361618"/>
          </a:xfrm>
          <a:prstGeom prst="rect">
            <a:avLst/>
          </a:prstGeom>
        </p:spPr>
      </p:pic>
      <p:pic>
        <p:nvPicPr>
          <p:cNvPr id="8" name="Image 7" descr="Une image contenant texte, capture d’écran, diagramme, Rectangle&#10;&#10;Le contenu généré par l’IA peut être incorrect.">
            <a:extLst>
              <a:ext uri="{FF2B5EF4-FFF2-40B4-BE49-F238E27FC236}">
                <a16:creationId xmlns:a16="http://schemas.microsoft.com/office/drawing/2014/main" id="{45D5E1A1-9E55-89EF-285F-3C71607ECFC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5232" r="57765"/>
          <a:stretch/>
        </p:blipFill>
        <p:spPr>
          <a:xfrm>
            <a:off x="601578" y="3884419"/>
            <a:ext cx="3683227" cy="1825004"/>
          </a:xfrm>
          <a:prstGeom prst="rect">
            <a:avLst/>
          </a:prstGeom>
        </p:spPr>
      </p:pic>
      <p:pic>
        <p:nvPicPr>
          <p:cNvPr id="10" name="Image 9" descr="Une image contenant texte, capture d’écran, diagramme, Rectangle&#10;&#10;Le contenu généré par l’IA peut être incorrect.">
            <a:extLst>
              <a:ext uri="{FF2B5EF4-FFF2-40B4-BE49-F238E27FC236}">
                <a16:creationId xmlns:a16="http://schemas.microsoft.com/office/drawing/2014/main" id="{DA0F2EEF-C0F4-6A57-64A1-6B0F25F7D37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4499"/>
          <a:stretch/>
        </p:blipFill>
        <p:spPr>
          <a:xfrm>
            <a:off x="5904921" y="1472115"/>
            <a:ext cx="6225831" cy="2412304"/>
          </a:xfrm>
          <a:prstGeom prst="rect">
            <a:avLst/>
          </a:prstGeom>
        </p:spPr>
      </p:pic>
      <p:pic>
        <p:nvPicPr>
          <p:cNvPr id="11" name="Image 10" descr="Une image contenant texte, capture d’écran, diagramme, Rectangle&#10;&#10;Le contenu généré par l’IA peut être incorrect.">
            <a:extLst>
              <a:ext uri="{FF2B5EF4-FFF2-40B4-BE49-F238E27FC236}">
                <a16:creationId xmlns:a16="http://schemas.microsoft.com/office/drawing/2014/main" id="{D8C24D82-4AB7-BCE5-17E0-39DDF52967E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1777" r="59093"/>
          <a:stretch/>
        </p:blipFill>
        <p:spPr>
          <a:xfrm>
            <a:off x="6358444" y="4186080"/>
            <a:ext cx="3732500" cy="1523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93217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2EE09-2036-C71F-F32F-3DC2DA406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A6B553FF-B48D-6F9A-FCA0-6F969B17BD07}"/>
              </a:ext>
            </a:extLst>
          </p:cNvPr>
          <p:cNvSpPr txBox="1"/>
          <p:nvPr/>
        </p:nvSpPr>
        <p:spPr>
          <a:xfrm>
            <a:off x="601579" y="252664"/>
            <a:ext cx="106066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 dirty="0"/>
              <a:t>Step 1: Target Selection – Diabetes. Removing Missing Data. Feature Importance Analysis with SHAP.</a:t>
            </a:r>
            <a:endParaRPr lang="en-US" noProof="0" dirty="0"/>
          </a:p>
          <a:p>
            <a:endParaRPr lang="en-US" b="1" noProof="0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D559076A-D6AB-A62F-A617-490393DE3B56}"/>
              </a:ext>
            </a:extLst>
          </p:cNvPr>
          <p:cNvSpPr txBox="1"/>
          <p:nvPr/>
        </p:nvSpPr>
        <p:spPr>
          <a:xfrm>
            <a:off x="6012373" y="745106"/>
            <a:ext cx="18325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noProof="0" dirty="0"/>
              <a:t>Class 2, descending :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5D004530-8C73-3022-A90B-35416C57F7A6}"/>
              </a:ext>
            </a:extLst>
          </p:cNvPr>
          <p:cNvSpPr txBox="1"/>
          <p:nvPr/>
        </p:nvSpPr>
        <p:spPr>
          <a:xfrm>
            <a:off x="210474" y="745106"/>
            <a:ext cx="32505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noProof="0" dirty="0"/>
              <a:t>Features sorted by SHAP importance :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20F24164-79AE-4F59-6E62-B00201985249}"/>
              </a:ext>
            </a:extLst>
          </p:cNvPr>
          <p:cNvSpPr txBox="1"/>
          <p:nvPr/>
        </p:nvSpPr>
        <p:spPr>
          <a:xfrm>
            <a:off x="377284" y="6343726"/>
            <a:ext cx="489749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sz="1100" b="1" noProof="0" dirty="0"/>
              <a:t>* </a:t>
            </a:r>
            <a:r>
              <a:rPr lang="en-US" sz="1100" b="1" dirty="0"/>
              <a:t>Not </a:t>
            </a:r>
            <a:r>
              <a:rPr lang="en-AU" sz="1100" b="1" dirty="0"/>
              <a:t>u</a:t>
            </a:r>
            <a:r>
              <a:rPr lang="en-AU" sz="1100" b="1" noProof="0" dirty="0"/>
              <a:t>sing Fasting Glucose (LBDGLUSI) and HbA1c (LBXGH) as features</a:t>
            </a:r>
          </a:p>
        </p:txBody>
      </p:sp>
      <p:pic>
        <p:nvPicPr>
          <p:cNvPr id="4" name="Image 3" descr="Une image contenant texte, capture d’écran, Caractère coloré, Police&#10;&#10;Le contenu généré par l’IA peut être incorrect.">
            <a:extLst>
              <a:ext uri="{FF2B5EF4-FFF2-40B4-BE49-F238E27FC236}">
                <a16:creationId xmlns:a16="http://schemas.microsoft.com/office/drawing/2014/main" id="{B5F574D3-BE3F-8BA3-E8D1-194AFC7201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502" y="1080896"/>
            <a:ext cx="4495548" cy="4957947"/>
          </a:xfrm>
          <a:prstGeom prst="rect">
            <a:avLst/>
          </a:prstGeom>
        </p:spPr>
      </p:pic>
      <p:pic>
        <p:nvPicPr>
          <p:cNvPr id="6" name="Image 5" descr="Une image contenant texte, capture d’écran, Police, menu&#10;&#10;Le contenu généré par l’IA peut être incorrect.">
            <a:extLst>
              <a:ext uri="{FF2B5EF4-FFF2-40B4-BE49-F238E27FC236}">
                <a16:creationId xmlns:a16="http://schemas.microsoft.com/office/drawing/2014/main" id="{54D1B10F-63B3-BB50-819D-AE73D8D449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2373" y="1080896"/>
            <a:ext cx="5112662" cy="5009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17283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99A9F-99E3-0CB1-6B0D-8B71125E1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0714C6FD-D773-D787-D314-594EC9E47971}"/>
              </a:ext>
            </a:extLst>
          </p:cNvPr>
          <p:cNvSpPr txBox="1"/>
          <p:nvPr/>
        </p:nvSpPr>
        <p:spPr>
          <a:xfrm>
            <a:off x="601579" y="252664"/>
            <a:ext cx="7702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 dirty="0"/>
              <a:t>Step </a:t>
            </a:r>
            <a:r>
              <a:rPr lang="ru-RU" b="1" noProof="0" dirty="0"/>
              <a:t>2</a:t>
            </a:r>
            <a:r>
              <a:rPr lang="en-US" b="1" noProof="0" dirty="0"/>
              <a:t>: Target Selection – </a:t>
            </a:r>
            <a:r>
              <a:rPr lang="en-US" b="1" dirty="0" err="1"/>
              <a:t>MetS</a:t>
            </a:r>
            <a:r>
              <a:rPr lang="en-US" b="1" dirty="0"/>
              <a:t>, </a:t>
            </a:r>
            <a:r>
              <a:rPr lang="en-US" b="1" dirty="0" err="1"/>
              <a:t>Insulin_Resistance</a:t>
            </a:r>
            <a:r>
              <a:rPr lang="en-US" b="1" dirty="0"/>
              <a:t>  -&gt; Risque Diabetes ?  </a:t>
            </a:r>
            <a:endParaRPr lang="en-US" b="1" noProof="0" dirty="0"/>
          </a:p>
        </p:txBody>
      </p:sp>
      <p:pic>
        <p:nvPicPr>
          <p:cNvPr id="10" name="Image 9" descr="Une image contenant texte, reçu, capture d’écran&#10;&#10;Le contenu généré par l’IA peut être incorrect.">
            <a:extLst>
              <a:ext uri="{FF2B5EF4-FFF2-40B4-BE49-F238E27FC236}">
                <a16:creationId xmlns:a16="http://schemas.microsoft.com/office/drawing/2014/main" id="{1234F82C-0456-A709-A3FF-EB0E31D80E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600933"/>
            <a:ext cx="12142952" cy="2431876"/>
          </a:xfrm>
          <a:prstGeom prst="rect">
            <a:avLst/>
          </a:prstGeom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AF299816-F6E9-D765-53C0-A1C5B66AEE7B}"/>
              </a:ext>
            </a:extLst>
          </p:cNvPr>
          <p:cNvSpPr txBox="1"/>
          <p:nvPr/>
        </p:nvSpPr>
        <p:spPr>
          <a:xfrm>
            <a:off x="534755" y="2966659"/>
            <a:ext cx="749083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200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Only patients with at least </a:t>
            </a:r>
            <a:r>
              <a:rPr lang="en-AU" sz="1200" b="1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 non-missing values</a:t>
            </a:r>
            <a:r>
              <a:rPr lang="en-AU" sz="1200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are considered for MetS classification.</a:t>
            </a:r>
          </a:p>
        </p:txBody>
      </p:sp>
      <p:pic>
        <p:nvPicPr>
          <p:cNvPr id="19" name="Image 18" descr="Une image contenant texte, capture d’écran, Police, algèbre&#10;&#10;Le contenu généré par l’IA peut être incorrect.">
            <a:extLst>
              <a:ext uri="{FF2B5EF4-FFF2-40B4-BE49-F238E27FC236}">
                <a16:creationId xmlns:a16="http://schemas.microsoft.com/office/drawing/2014/main" id="{429C488B-885A-2577-FB8B-E87CE7E7A2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745" y="825191"/>
            <a:ext cx="10286731" cy="1862253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02FE80B1-AEF5-0D3E-4D21-1B56DAAFDAAE}"/>
              </a:ext>
            </a:extLst>
          </p:cNvPr>
          <p:cNvSpPr txBox="1"/>
          <p:nvPr/>
        </p:nvSpPr>
        <p:spPr>
          <a:xfrm>
            <a:off x="5463738" y="3759852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5FA33FDE-064C-732B-8079-2E3B281164A7}"/>
              </a:ext>
            </a:extLst>
          </p:cNvPr>
          <p:cNvSpPr txBox="1"/>
          <p:nvPr/>
        </p:nvSpPr>
        <p:spPr>
          <a:xfrm>
            <a:off x="5940671" y="3759852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A66B3657-D892-E905-4C69-9F89A169E08C}"/>
              </a:ext>
            </a:extLst>
          </p:cNvPr>
          <p:cNvSpPr txBox="1"/>
          <p:nvPr/>
        </p:nvSpPr>
        <p:spPr>
          <a:xfrm>
            <a:off x="6427952" y="3759851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02547E09-A5A0-5097-F93E-160575BFCAB0}"/>
              </a:ext>
            </a:extLst>
          </p:cNvPr>
          <p:cNvSpPr txBox="1"/>
          <p:nvPr/>
        </p:nvSpPr>
        <p:spPr>
          <a:xfrm>
            <a:off x="6915233" y="3759851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C831F1D3-AC19-DC7E-5938-C625EE28644F}"/>
              </a:ext>
            </a:extLst>
          </p:cNvPr>
          <p:cNvSpPr txBox="1"/>
          <p:nvPr/>
        </p:nvSpPr>
        <p:spPr>
          <a:xfrm>
            <a:off x="7528512" y="3759850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AE575063-592D-B77E-CDDC-E165951EEDB3}"/>
              </a:ext>
            </a:extLst>
          </p:cNvPr>
          <p:cNvSpPr txBox="1"/>
          <p:nvPr/>
        </p:nvSpPr>
        <p:spPr>
          <a:xfrm>
            <a:off x="7834585" y="3759850"/>
            <a:ext cx="93807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sz="1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AU" sz="1000" b="1" noProof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etS</a:t>
            </a:r>
            <a:r>
              <a:rPr lang="en-AU" sz="1000" b="1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non nan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E7EF42A2-180C-6970-EFA9-42FFBB8890F6}"/>
              </a:ext>
            </a:extLst>
          </p:cNvPr>
          <p:cNvSpPr txBox="1"/>
          <p:nvPr/>
        </p:nvSpPr>
        <p:spPr>
          <a:xfrm>
            <a:off x="8740288" y="3775238"/>
            <a:ext cx="6735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sz="1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NB </a:t>
            </a:r>
            <a:r>
              <a:rPr lang="en-AU" sz="1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metS</a:t>
            </a:r>
            <a:endParaRPr lang="en-AU" sz="1000" b="1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53550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 descr="Une image contenant texte, capture d’écran, diagramme, Police&#10;&#10;Le contenu généré par l’IA peut être incorrect.">
            <a:extLst>
              <a:ext uri="{FF2B5EF4-FFF2-40B4-BE49-F238E27FC236}">
                <a16:creationId xmlns:a16="http://schemas.microsoft.com/office/drawing/2014/main" id="{508A1CB5-ACCA-509F-DF13-955B3AC84D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6256" y="800645"/>
            <a:ext cx="6835050" cy="4807260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998693B1-F018-A53E-384D-5CB6D1667D50}"/>
              </a:ext>
            </a:extLst>
          </p:cNvPr>
          <p:cNvSpPr txBox="1"/>
          <p:nvPr/>
        </p:nvSpPr>
        <p:spPr>
          <a:xfrm>
            <a:off x="601579" y="252664"/>
            <a:ext cx="7702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 dirty="0"/>
              <a:t>Step </a:t>
            </a:r>
            <a:r>
              <a:rPr lang="ru-RU" b="1" noProof="0" dirty="0"/>
              <a:t>2</a:t>
            </a:r>
            <a:r>
              <a:rPr lang="en-US" b="1" noProof="0" dirty="0"/>
              <a:t>: Target Selection – </a:t>
            </a:r>
            <a:r>
              <a:rPr lang="en-US" b="1" dirty="0" err="1"/>
              <a:t>MetS</a:t>
            </a:r>
            <a:r>
              <a:rPr lang="en-US" b="1" dirty="0"/>
              <a:t>, </a:t>
            </a:r>
            <a:r>
              <a:rPr lang="en-US" b="1" dirty="0" err="1"/>
              <a:t>Insulin_Resistance</a:t>
            </a:r>
            <a:r>
              <a:rPr lang="en-US" b="1" dirty="0"/>
              <a:t>  -&gt; Risque Diabetes ?  </a:t>
            </a:r>
            <a:endParaRPr lang="en-US" b="1" noProof="0" dirty="0"/>
          </a:p>
        </p:txBody>
      </p:sp>
    </p:spTree>
    <p:extLst>
      <p:ext uri="{BB962C8B-B14F-4D97-AF65-F5344CB8AC3E}">
        <p14:creationId xmlns:p14="http://schemas.microsoft.com/office/powerpoint/2010/main" val="36569565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06959-E2EE-B8FC-B794-E2330EE39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EA2F2AA8-102E-85FA-99B7-6EF07E6E58D9}"/>
              </a:ext>
            </a:extLst>
          </p:cNvPr>
          <p:cNvSpPr txBox="1"/>
          <p:nvPr/>
        </p:nvSpPr>
        <p:spPr>
          <a:xfrm>
            <a:off x="601579" y="252664"/>
            <a:ext cx="7702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 dirty="0"/>
              <a:t>Step </a:t>
            </a:r>
            <a:r>
              <a:rPr lang="ru-RU" b="1" noProof="0" dirty="0"/>
              <a:t>2</a:t>
            </a:r>
            <a:r>
              <a:rPr lang="en-US" b="1" noProof="0" dirty="0"/>
              <a:t>: Target Selection – </a:t>
            </a:r>
            <a:r>
              <a:rPr lang="en-US" b="1" dirty="0" err="1"/>
              <a:t>MetS</a:t>
            </a:r>
            <a:r>
              <a:rPr lang="en-US" b="1" dirty="0"/>
              <a:t>, </a:t>
            </a:r>
            <a:r>
              <a:rPr lang="en-US" b="1" dirty="0" err="1"/>
              <a:t>Insulin_Resistance</a:t>
            </a:r>
            <a:r>
              <a:rPr lang="en-US" b="1" dirty="0"/>
              <a:t>  -&gt; Risque Diabetes ?  </a:t>
            </a:r>
            <a:endParaRPr lang="en-US" b="1" noProof="0" dirty="0"/>
          </a:p>
        </p:txBody>
      </p:sp>
      <p:pic>
        <p:nvPicPr>
          <p:cNvPr id="6" name="Image 5" descr="Une image contenant texte, diagramm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274FF3D0-61F4-72D5-4BFE-3B9E2832C3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7325" y="1000633"/>
            <a:ext cx="6097293" cy="2306028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D457992D-A680-BFBD-2864-1456BD3E53A8}"/>
              </a:ext>
            </a:extLst>
          </p:cNvPr>
          <p:cNvSpPr txBox="1"/>
          <p:nvPr/>
        </p:nvSpPr>
        <p:spPr>
          <a:xfrm>
            <a:off x="210474" y="745106"/>
            <a:ext cx="10823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noProof="0" dirty="0" err="1"/>
              <a:t>Mets_HDL</a:t>
            </a:r>
            <a:endParaRPr lang="en-US" sz="1400" b="1" noProof="0" dirty="0"/>
          </a:p>
        </p:txBody>
      </p:sp>
      <p:pic>
        <p:nvPicPr>
          <p:cNvPr id="9" name="Image 8" descr="Une image contenant texte, diagramme, capture d’écran, cercle&#10;&#10;Le contenu généré par l’IA peut être incorrect.">
            <a:extLst>
              <a:ext uri="{FF2B5EF4-FFF2-40B4-BE49-F238E27FC236}">
                <a16:creationId xmlns:a16="http://schemas.microsoft.com/office/drawing/2014/main" id="{BAB8CE78-ED8B-36D4-BE1F-E1EB145A6F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1793" y="3441217"/>
            <a:ext cx="5384800" cy="2197100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2B54A9BD-ACCA-CCB6-7D55-FCEA1F280507}"/>
              </a:ext>
            </a:extLst>
          </p:cNvPr>
          <p:cNvSpPr txBox="1"/>
          <p:nvPr/>
        </p:nvSpPr>
        <p:spPr>
          <a:xfrm>
            <a:off x="210474" y="1966889"/>
            <a:ext cx="27471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b="1" noProof="1"/>
              <a:t>Without considering </a:t>
            </a:r>
          </a:p>
          <a:p>
            <a:r>
              <a:rPr lang="en-AU" sz="1200" b="1" noProof="1"/>
              <a:t>medication use</a:t>
            </a:r>
            <a:endParaRPr lang="en-AU" sz="1200" noProof="1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02B74280-2ED3-282F-1EA2-364451528472}"/>
              </a:ext>
            </a:extLst>
          </p:cNvPr>
          <p:cNvSpPr txBox="1"/>
          <p:nvPr/>
        </p:nvSpPr>
        <p:spPr>
          <a:xfrm>
            <a:off x="201433" y="4401267"/>
            <a:ext cx="20703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b="1" noProof="0" dirty="0"/>
              <a:t>Including medication use 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75B5BEE7-5815-F7BB-F4D8-60770EA52F26}"/>
              </a:ext>
            </a:extLst>
          </p:cNvPr>
          <p:cNvSpPr txBox="1"/>
          <p:nvPr/>
        </p:nvSpPr>
        <p:spPr>
          <a:xfrm>
            <a:off x="0" y="5855836"/>
            <a:ext cx="3758339" cy="257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</a:pPr>
            <a:r>
              <a:rPr lang="fr-FR" sz="1000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obj</a:t>
            </a:r>
            <a:r>
              <a:rPr lang="fr-FR" sz="1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43. </a:t>
            </a:r>
            <a:r>
              <a:rPr lang="fr-FR" sz="1000" b="1" dirty="0">
                <a:solidFill>
                  <a:srgbClr val="00008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**BPQ090D**</a:t>
            </a:r>
            <a:r>
              <a:rPr lang="fr-FR" sz="1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fr-FR" sz="1000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Taking</a:t>
            </a:r>
            <a:r>
              <a:rPr lang="fr-FR" sz="1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1000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medication</a:t>
            </a:r>
            <a:r>
              <a:rPr lang="fr-FR" sz="1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for high </a:t>
            </a:r>
            <a:r>
              <a:rPr lang="fr-FR" sz="1000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cholesterol</a:t>
            </a:r>
            <a:r>
              <a:rPr lang="fr-FR" sz="1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60745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E6E2B-4BA2-B117-ACCE-BE21C133D7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1F3DE20C-AA61-6499-3E92-0554E928757F}"/>
              </a:ext>
            </a:extLst>
          </p:cNvPr>
          <p:cNvSpPr txBox="1"/>
          <p:nvPr/>
        </p:nvSpPr>
        <p:spPr>
          <a:xfrm>
            <a:off x="601579" y="252664"/>
            <a:ext cx="7702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 dirty="0"/>
              <a:t>Step </a:t>
            </a:r>
            <a:r>
              <a:rPr lang="ru-RU" b="1" noProof="0" dirty="0"/>
              <a:t>2</a:t>
            </a:r>
            <a:r>
              <a:rPr lang="en-US" b="1" noProof="0" dirty="0"/>
              <a:t>: Target Selection – </a:t>
            </a:r>
            <a:r>
              <a:rPr lang="en-US" b="1" dirty="0" err="1"/>
              <a:t>MetS</a:t>
            </a:r>
            <a:r>
              <a:rPr lang="en-US" b="1" dirty="0"/>
              <a:t>, </a:t>
            </a:r>
            <a:r>
              <a:rPr lang="en-US" b="1" dirty="0" err="1"/>
              <a:t>Insulin_Resistance</a:t>
            </a:r>
            <a:r>
              <a:rPr lang="en-US" b="1" dirty="0"/>
              <a:t>  -&gt; Risque Diabetes ?  </a:t>
            </a:r>
            <a:endParaRPr lang="en-US" b="1" noProof="0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C06CDE76-5ED9-597F-A1E2-E220F8149B65}"/>
              </a:ext>
            </a:extLst>
          </p:cNvPr>
          <p:cNvSpPr txBox="1"/>
          <p:nvPr/>
        </p:nvSpPr>
        <p:spPr>
          <a:xfrm>
            <a:off x="210474" y="745106"/>
            <a:ext cx="8996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noProof="0" dirty="0" err="1"/>
              <a:t>Mets_BP</a:t>
            </a:r>
            <a:endParaRPr lang="en-US" sz="1400" b="1" noProof="0" dirty="0"/>
          </a:p>
        </p:txBody>
      </p:sp>
      <p:pic>
        <p:nvPicPr>
          <p:cNvPr id="4" name="Image 3" descr="Une image contenant texte, capture d’écran, Police, diagramme&#10;&#10;Le contenu généré par l’IA peut être incorrect.">
            <a:extLst>
              <a:ext uri="{FF2B5EF4-FFF2-40B4-BE49-F238E27FC236}">
                <a16:creationId xmlns:a16="http://schemas.microsoft.com/office/drawing/2014/main" id="{E8733E06-8074-C8E3-6C9C-A0B97E467E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2071" y="898994"/>
            <a:ext cx="5867400" cy="2006600"/>
          </a:xfrm>
          <a:prstGeom prst="rect">
            <a:avLst/>
          </a:prstGeom>
        </p:spPr>
      </p:pic>
      <p:pic>
        <p:nvPicPr>
          <p:cNvPr id="8" name="Image 7" descr="Une image contenant texte, capture d’écran, diagramme, cercle&#10;&#10;Le contenu généré par l’IA peut être incorrect.">
            <a:extLst>
              <a:ext uri="{FF2B5EF4-FFF2-40B4-BE49-F238E27FC236}">
                <a16:creationId xmlns:a16="http://schemas.microsoft.com/office/drawing/2014/main" id="{446E5550-1A76-9834-8CFE-81B7CFDD4D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2519" y="3429000"/>
            <a:ext cx="5511800" cy="2184400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81A064FE-4756-932C-3919-EC8A56104421}"/>
              </a:ext>
            </a:extLst>
          </p:cNvPr>
          <p:cNvSpPr txBox="1"/>
          <p:nvPr/>
        </p:nvSpPr>
        <p:spPr>
          <a:xfrm>
            <a:off x="83904" y="2036631"/>
            <a:ext cx="26228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sz="1200" b="1" noProof="0" dirty="0"/>
              <a:t>Without considering medication use</a:t>
            </a:r>
            <a:endParaRPr lang="en-AU" sz="1200" noProof="0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7CB2682-19D6-1740-A021-4B2156C5FB00}"/>
              </a:ext>
            </a:extLst>
          </p:cNvPr>
          <p:cNvSpPr txBox="1"/>
          <p:nvPr/>
        </p:nvSpPr>
        <p:spPr>
          <a:xfrm>
            <a:off x="413841" y="4313538"/>
            <a:ext cx="20703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 err="1"/>
              <a:t>Including</a:t>
            </a:r>
            <a:r>
              <a:rPr lang="fr-FR" sz="1200" b="1" dirty="0"/>
              <a:t> </a:t>
            </a:r>
            <a:r>
              <a:rPr lang="fr-FR" sz="1200" b="1" dirty="0" err="1"/>
              <a:t>medication</a:t>
            </a:r>
            <a:r>
              <a:rPr lang="fr-FR" sz="1200" b="1" dirty="0"/>
              <a:t> use </a:t>
            </a:r>
            <a:endParaRPr lang="ru-RU" sz="1200" b="1" dirty="0"/>
          </a:p>
          <a:p>
            <a:r>
              <a:rPr lang="fr-FR" sz="1200" b="1" dirty="0"/>
              <a:t>as a Hypertension Factor</a:t>
            </a:r>
            <a:endParaRPr lang="fr-FR" sz="1200" dirty="0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8C79158A-5D8F-AE47-B089-FD03876BBC92}"/>
              </a:ext>
            </a:extLst>
          </p:cNvPr>
          <p:cNvSpPr txBox="1"/>
          <p:nvPr/>
        </p:nvSpPr>
        <p:spPr>
          <a:xfrm>
            <a:off x="210474" y="5304150"/>
            <a:ext cx="6094708" cy="43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</a:pPr>
            <a:r>
              <a:rPr lang="fr-FR" sz="1000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obj</a:t>
            </a:r>
            <a:r>
              <a:rPr lang="fr-FR" sz="1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40. </a:t>
            </a:r>
            <a:r>
              <a:rPr lang="fr-FR" sz="1000" b="1" dirty="0">
                <a:solidFill>
                  <a:srgbClr val="00008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**BPQ040A**</a:t>
            </a:r>
            <a:r>
              <a:rPr lang="fr-FR" sz="1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fr-FR" sz="1000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Taking</a:t>
            </a:r>
            <a:r>
              <a:rPr lang="fr-FR" sz="1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hypertension </a:t>
            </a:r>
            <a:r>
              <a:rPr lang="fr-FR" sz="1000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medication</a:t>
            </a:r>
            <a:r>
              <a:rPr lang="fr-FR" sz="1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lnSpc>
                <a:spcPts val="1350"/>
              </a:lnSpc>
            </a:pPr>
            <a:r>
              <a:rPr lang="fr-FR" sz="1000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obj</a:t>
            </a:r>
            <a:r>
              <a:rPr lang="fr-FR" sz="1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41. </a:t>
            </a:r>
            <a:r>
              <a:rPr lang="fr-FR" sz="1000" b="1" dirty="0">
                <a:solidFill>
                  <a:srgbClr val="00008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**BPQ050A**</a:t>
            </a:r>
            <a:r>
              <a:rPr lang="fr-FR" sz="1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fr-FR" sz="1000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Taking</a:t>
            </a:r>
            <a:r>
              <a:rPr lang="fr-FR" sz="1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1000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medication</a:t>
            </a:r>
            <a:r>
              <a:rPr lang="fr-FR" sz="1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for high </a:t>
            </a:r>
            <a:r>
              <a:rPr lang="fr-FR" sz="1000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blood</a:t>
            </a:r>
            <a:r>
              <a:rPr lang="fr-FR" sz="1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pressure.</a:t>
            </a:r>
          </a:p>
        </p:txBody>
      </p:sp>
    </p:spTree>
    <p:extLst>
      <p:ext uri="{BB962C8B-B14F-4D97-AF65-F5344CB8AC3E}">
        <p14:creationId xmlns:p14="http://schemas.microsoft.com/office/powerpoint/2010/main" val="3508363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69052-ECEA-58F1-6E98-115249661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 descr="Une image contenant texte, capture d’écran, diagramme, Police&#10;&#10;Le contenu généré par l’IA peut être incorrect.">
            <a:extLst>
              <a:ext uri="{FF2B5EF4-FFF2-40B4-BE49-F238E27FC236}">
                <a16:creationId xmlns:a16="http://schemas.microsoft.com/office/drawing/2014/main" id="{30F0713D-E926-6AE3-F4E2-0DB8A82B455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9797"/>
          <a:stretch/>
        </p:blipFill>
        <p:spPr>
          <a:xfrm>
            <a:off x="494621" y="1272158"/>
            <a:ext cx="6835050" cy="3374852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B7D3233C-1C4F-C30C-DFCE-EF139BBA3460}"/>
              </a:ext>
            </a:extLst>
          </p:cNvPr>
          <p:cNvSpPr txBox="1"/>
          <p:nvPr/>
        </p:nvSpPr>
        <p:spPr>
          <a:xfrm>
            <a:off x="601579" y="252664"/>
            <a:ext cx="7702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 dirty="0"/>
              <a:t>Step </a:t>
            </a:r>
            <a:r>
              <a:rPr lang="ru-RU" b="1" noProof="0" dirty="0"/>
              <a:t>2</a:t>
            </a:r>
            <a:r>
              <a:rPr lang="en-US" b="1" noProof="0" dirty="0"/>
              <a:t>: Target Selection – </a:t>
            </a:r>
            <a:r>
              <a:rPr lang="en-US" b="1" dirty="0" err="1"/>
              <a:t>MetS</a:t>
            </a:r>
            <a:r>
              <a:rPr lang="en-US" b="1" dirty="0"/>
              <a:t>, </a:t>
            </a:r>
            <a:r>
              <a:rPr lang="en-US" b="1" dirty="0" err="1"/>
              <a:t>Insulin_Resistance</a:t>
            </a:r>
            <a:r>
              <a:rPr lang="en-US" b="1" dirty="0"/>
              <a:t>  -&gt; Risque Diabetes ?  </a:t>
            </a:r>
            <a:endParaRPr lang="en-US" b="1" noProof="0" dirty="0"/>
          </a:p>
        </p:txBody>
      </p:sp>
      <p:pic>
        <p:nvPicPr>
          <p:cNvPr id="5" name="Image 4" descr="Une image contenant texte, capture d’écran, Police, diagramme&#10;&#10;Le contenu généré par l’IA peut être incorrect.">
            <a:extLst>
              <a:ext uri="{FF2B5EF4-FFF2-40B4-BE49-F238E27FC236}">
                <a16:creationId xmlns:a16="http://schemas.microsoft.com/office/drawing/2014/main" id="{3DF51328-4698-A343-A7E5-807705BB0F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7468" y="1334152"/>
            <a:ext cx="4252312" cy="3374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52039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D4D113-8344-3A29-2424-F497275C2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25D34D91-4EA9-CE81-0982-F18D5C0013C1}"/>
              </a:ext>
            </a:extLst>
          </p:cNvPr>
          <p:cNvSpPr txBox="1"/>
          <p:nvPr/>
        </p:nvSpPr>
        <p:spPr>
          <a:xfrm>
            <a:off x="601579" y="252664"/>
            <a:ext cx="7702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 dirty="0"/>
              <a:t>Step </a:t>
            </a:r>
            <a:r>
              <a:rPr lang="ru-RU" b="1" noProof="0" dirty="0"/>
              <a:t>2</a:t>
            </a:r>
            <a:r>
              <a:rPr lang="en-US" b="1" noProof="0" dirty="0"/>
              <a:t>: Target Selection – </a:t>
            </a:r>
            <a:r>
              <a:rPr lang="en-US" b="1" dirty="0" err="1"/>
              <a:t>MetS</a:t>
            </a:r>
            <a:r>
              <a:rPr lang="en-US" b="1" dirty="0"/>
              <a:t>, </a:t>
            </a:r>
            <a:r>
              <a:rPr lang="en-US" b="1" dirty="0" err="1"/>
              <a:t>Insulin_Resistance</a:t>
            </a:r>
            <a:r>
              <a:rPr lang="en-US" b="1" dirty="0"/>
              <a:t>  -&gt; Risque Diabetes ?  </a:t>
            </a:r>
            <a:endParaRPr lang="en-US" b="1" noProof="0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639CB7FF-B4C1-F97B-E69F-681B58D09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674" y="1590472"/>
            <a:ext cx="11513339" cy="3390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83391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04BD0-969B-DC36-42F2-D01692F63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1C5FDAB3-ED9D-DC60-F5E0-69A2C5DC48C7}"/>
              </a:ext>
            </a:extLst>
          </p:cNvPr>
          <p:cNvSpPr txBox="1"/>
          <p:nvPr/>
        </p:nvSpPr>
        <p:spPr>
          <a:xfrm>
            <a:off x="601579" y="252664"/>
            <a:ext cx="7702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 dirty="0"/>
              <a:t>Step </a:t>
            </a:r>
            <a:r>
              <a:rPr lang="ru-RU" b="1" noProof="0" dirty="0"/>
              <a:t>2</a:t>
            </a:r>
            <a:r>
              <a:rPr lang="en-US" b="1" noProof="0" dirty="0"/>
              <a:t>: Target Selection – </a:t>
            </a:r>
            <a:r>
              <a:rPr lang="en-US" b="1" dirty="0" err="1"/>
              <a:t>MetS</a:t>
            </a:r>
            <a:r>
              <a:rPr lang="en-US" b="1" dirty="0"/>
              <a:t>, </a:t>
            </a:r>
            <a:r>
              <a:rPr lang="en-US" b="1" dirty="0" err="1"/>
              <a:t>Insulin_Resistance</a:t>
            </a:r>
            <a:r>
              <a:rPr lang="en-US" b="1" dirty="0"/>
              <a:t>  -&gt; Risque Diabetes ?  </a:t>
            </a:r>
            <a:endParaRPr lang="en-US" b="1" noProof="0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96EE9C8C-AB85-0DB3-DA38-CEA002A1FB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009" y="774395"/>
            <a:ext cx="11513339" cy="3390708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20F8BF67-A7CE-24D7-1670-74FDF91A27A9}"/>
              </a:ext>
            </a:extLst>
          </p:cNvPr>
          <p:cNvSpPr txBox="1"/>
          <p:nvPr/>
        </p:nvSpPr>
        <p:spPr>
          <a:xfrm>
            <a:off x="169666" y="3809670"/>
            <a:ext cx="60960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0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1. Метаболический синдром (</a:t>
            </a:r>
            <a:r>
              <a:rPr lang="fr-FR" sz="1000" b="1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MetS</a:t>
            </a:r>
            <a:r>
              <a:rPr lang="fr-FR" sz="10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r>
              <a:rPr lang="fr-FR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ru-RU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Глюкоза в норме</a:t>
            </a:r>
          </a:p>
          <a:p>
            <a:r>
              <a:rPr lang="ru-RU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• Избыточный вес, ожирение, абдоминальный жир</a:t>
            </a:r>
          </a:p>
          <a:p>
            <a:r>
              <a:rPr lang="ru-RU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• Артериальная гипертензия, низкий уровень </a:t>
            </a:r>
            <a:r>
              <a:rPr lang="fr-FR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HDL, </a:t>
            </a:r>
            <a:r>
              <a:rPr lang="ru-RU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высокий уровень триглицеридов</a:t>
            </a:r>
          </a:p>
          <a:p>
            <a:endParaRPr lang="ru-RU" sz="1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-&gt; Уровень инсулина может быть повышен, но без инсулинорезистентности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1F999CFB-719E-649C-82B2-5CDD21A1F26F}"/>
              </a:ext>
            </a:extLst>
          </p:cNvPr>
          <p:cNvSpPr txBox="1"/>
          <p:nvPr/>
        </p:nvSpPr>
        <p:spPr>
          <a:xfrm>
            <a:off x="98322" y="5067942"/>
            <a:ext cx="60960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0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2. Инсулинорезистентность (</a:t>
            </a:r>
            <a:r>
              <a:rPr lang="fr-FR" sz="10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IR) + </a:t>
            </a:r>
            <a:r>
              <a:rPr lang="ru-RU" sz="10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компенсаторная </a:t>
            </a:r>
            <a:r>
              <a:rPr lang="ru-RU" sz="1000" b="1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гиперинсулинемия</a:t>
            </a:r>
            <a:endParaRPr lang="ru-RU" sz="1000" b="1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• Глюкоза в норме, но уже повышен инсулин</a:t>
            </a:r>
          </a:p>
          <a:p>
            <a:r>
              <a:rPr lang="ru-RU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• Тканям (мышцам, печени, жировой ткани) сложнее усваивать глюкозу</a:t>
            </a:r>
          </a:p>
          <a:p>
            <a:r>
              <a:rPr lang="ru-RU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• Поджелудочная железа компенсирует это увеличением выработки инсулина</a:t>
            </a:r>
            <a:endParaRPr lang="en-US" sz="1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1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-&gt; Пациент ещё не </a:t>
            </a:r>
            <a:r>
              <a:rPr lang="ru-RU" sz="100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предиабетик</a:t>
            </a:r>
            <a:r>
              <a:rPr lang="ru-RU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но риск высокий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8D0661C2-3192-CCC8-6AC5-C02CD805FBE0}"/>
              </a:ext>
            </a:extLst>
          </p:cNvPr>
          <p:cNvSpPr txBox="1"/>
          <p:nvPr/>
        </p:nvSpPr>
        <p:spPr>
          <a:xfrm>
            <a:off x="6194322" y="3809670"/>
            <a:ext cx="60960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0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3. Нарушенная толерантность к глюкозе (</a:t>
            </a:r>
            <a:r>
              <a:rPr lang="ru-RU" sz="1000" b="1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Предиабет</a:t>
            </a:r>
            <a:r>
              <a:rPr lang="ru-RU" sz="10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r>
              <a:rPr lang="ru-RU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• Глюкоза на </a:t>
            </a:r>
            <a:r>
              <a:rPr lang="ru-RU" sz="100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тощак</a:t>
            </a:r>
            <a:r>
              <a:rPr lang="ru-RU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может быть в пределах 5.6-6.9 ммоль/л (100-125 мг/</a:t>
            </a:r>
            <a:r>
              <a:rPr lang="ru-RU" sz="100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дл</a:t>
            </a:r>
            <a:r>
              <a:rPr lang="ru-RU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r>
              <a:rPr lang="ru-RU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• Глюкоза после нагрузки (ОГТТ) – 7.8-11.0 ммоль/л (140-199 мг/</a:t>
            </a:r>
            <a:r>
              <a:rPr lang="ru-RU" sz="100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дл</a:t>
            </a:r>
            <a:r>
              <a:rPr lang="ru-RU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r>
              <a:rPr lang="ru-RU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fr-FR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HbA1c – 5.7%-6.4%</a:t>
            </a:r>
          </a:p>
          <a:p>
            <a:r>
              <a:rPr lang="fr-FR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ru-RU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Инсулинорезистентность усиливается, но поджелудочная железа ещё компенсирует</a:t>
            </a:r>
            <a:endParaRPr lang="en-US" sz="1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1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-&gt; Без контроля и образа жизни риск перехода в диабет – 30-50% за 5 лет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C443540F-0093-8867-7610-D8BE39F10139}"/>
              </a:ext>
            </a:extLst>
          </p:cNvPr>
          <p:cNvSpPr txBox="1"/>
          <p:nvPr/>
        </p:nvSpPr>
        <p:spPr>
          <a:xfrm>
            <a:off x="6265666" y="5067941"/>
            <a:ext cx="614516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0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4. Диабет 2 типа (</a:t>
            </a:r>
            <a:r>
              <a:rPr lang="fr-FR" sz="10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T2D)</a:t>
            </a:r>
          </a:p>
          <a:p>
            <a:r>
              <a:rPr lang="fr-FR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ru-RU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Глюкоза натощак ≥7.0 ммоль/л (126 мг/</a:t>
            </a:r>
            <a:r>
              <a:rPr lang="ru-RU" sz="100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дл</a:t>
            </a:r>
            <a:r>
              <a:rPr lang="ru-RU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r>
              <a:rPr lang="ru-RU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fr-FR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HbA1c ≥6.5%</a:t>
            </a:r>
          </a:p>
          <a:p>
            <a:r>
              <a:rPr lang="fr-FR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ru-RU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Глюкоза после еды ≥11.1 ммоль/л (200 мг/</a:t>
            </a:r>
            <a:r>
              <a:rPr lang="ru-RU" sz="100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дл</a:t>
            </a:r>
            <a:r>
              <a:rPr lang="ru-RU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r>
              <a:rPr lang="ru-RU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• Поджелудочная железа истощается, инсулина становится недостаточно</a:t>
            </a:r>
          </a:p>
          <a:p>
            <a:r>
              <a:rPr lang="ru-RU" sz="1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• Развиваются осложнения – поражение сосудов, сердца, почек, нервной системы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0BA5DA03-679A-703F-4B10-352B6429DFAC}"/>
              </a:ext>
            </a:extLst>
          </p:cNvPr>
          <p:cNvSpPr txBox="1"/>
          <p:nvPr/>
        </p:nvSpPr>
        <p:spPr>
          <a:xfrm>
            <a:off x="3217666" y="6172324"/>
            <a:ext cx="62041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9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✔ Метаболический синдром </a:t>
            </a:r>
            <a:r>
              <a:rPr lang="ru-RU" sz="9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не всегда приводит к диабету</a:t>
            </a:r>
            <a:r>
              <a:rPr lang="ru-RU" sz="9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но он </a:t>
            </a:r>
            <a:r>
              <a:rPr lang="ru-RU" sz="9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увеличивает риск</a:t>
            </a:r>
            <a:r>
              <a:rPr lang="ru-RU" sz="9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ru-RU" sz="9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✔ Инсулинорезистентность </a:t>
            </a:r>
            <a:r>
              <a:rPr lang="ru-RU" sz="9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может быть без </a:t>
            </a:r>
            <a:r>
              <a:rPr lang="ru-RU" sz="900" b="1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предиабета</a:t>
            </a:r>
            <a:r>
              <a:rPr lang="ru-RU" sz="9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но если она усиливается → </a:t>
            </a:r>
            <a:r>
              <a:rPr lang="ru-RU" sz="90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предиабет</a:t>
            </a:r>
            <a:r>
              <a:rPr lang="ru-RU" sz="9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ru-RU" sz="9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✔ </a:t>
            </a:r>
            <a:r>
              <a:rPr lang="ru-RU" sz="90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Предиабет</a:t>
            </a:r>
            <a:r>
              <a:rPr lang="ru-RU" sz="9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9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ключевой момент для вмешательства</a:t>
            </a:r>
            <a:r>
              <a:rPr lang="ru-RU" sz="9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т.к. он </a:t>
            </a:r>
            <a:r>
              <a:rPr lang="ru-RU" sz="9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ещё обратим</a:t>
            </a:r>
            <a:r>
              <a:rPr lang="ru-RU" sz="9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ru-RU" sz="9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✔ Диабет 2 типа </a:t>
            </a:r>
            <a:r>
              <a:rPr lang="ru-RU" sz="9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возникает, когда поджелудочная железа больше не справляется</a:t>
            </a:r>
            <a:r>
              <a:rPr lang="ru-RU" sz="9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1517125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3022</TotalTime>
  <Words>683</Words>
  <Application>Microsoft Macintosh PowerPoint</Application>
  <PresentationFormat>Grand écran</PresentationFormat>
  <Paragraphs>82</Paragraphs>
  <Slides>12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8" baseType="lpstr">
      <vt:lpstr>Aptos</vt:lpstr>
      <vt:lpstr>Arial</vt:lpstr>
      <vt:lpstr>Calisto MT</vt:lpstr>
      <vt:lpstr>Times New Roman</vt:lpstr>
      <vt:lpstr>Univers Condensed</vt:lpstr>
      <vt:lpstr>ChronicleVTI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Artyom G</dc:creator>
  <cp:lastModifiedBy>Artyom G</cp:lastModifiedBy>
  <cp:revision>2</cp:revision>
  <dcterms:created xsi:type="dcterms:W3CDTF">2025-02-19T16:50:52Z</dcterms:created>
  <dcterms:modified xsi:type="dcterms:W3CDTF">2025-02-21T19:13:44Z</dcterms:modified>
</cp:coreProperties>
</file>