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0" r:id="rId16"/>
    <p:sldId id="272" r:id="rId17"/>
    <p:sldId id="273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83"/>
    <p:restoredTop sz="94636"/>
  </p:normalViewPr>
  <p:slideViewPr>
    <p:cSldViewPr snapToGrid="0">
      <p:cViewPr>
        <p:scale>
          <a:sx n="197" d="100"/>
          <a:sy n="197" d="100"/>
        </p:scale>
        <p:origin x="144" y="-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90DEE3-5E4B-3B40-B56B-0C3DD78D9750}" type="datetimeFigureOut">
              <a:rPr lang="fr-FR" smtClean="0"/>
              <a:t>12/02/2025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290A1D-B0E4-B949-98EB-E617AF690B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9840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90A1D-B0E4-B949-98EB-E617AF690B0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1631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90A1D-B0E4-B949-98EB-E617AF690B06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4784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90A1D-B0E4-B949-98EB-E617AF690B0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14809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90A1D-B0E4-B949-98EB-E617AF690B0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5767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90A1D-B0E4-B949-98EB-E617AF690B0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26188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90A1D-B0E4-B949-98EB-E617AF690B06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0107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90A1D-B0E4-B949-98EB-E617AF690B06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06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90A1D-B0E4-B949-98EB-E617AF690B06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8597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90A1D-B0E4-B949-98EB-E617AF690B06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8743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90A1D-B0E4-B949-98EB-E617AF690B06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65041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90A1D-B0E4-B949-98EB-E617AF690B06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41573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90A1D-B0E4-B949-98EB-E617AF690B06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91154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90A1D-B0E4-B949-98EB-E617AF690B06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6235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90A1D-B0E4-B949-98EB-E617AF690B06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78282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90A1D-B0E4-B949-98EB-E617AF690B06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86249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90A1D-B0E4-B949-98EB-E617AF690B06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28456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90A1D-B0E4-B949-98EB-E617AF690B06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7268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14FF87-20A9-914A-65B9-0A000981C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93E35D3-5463-0425-A453-61FE87FD0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99B4C0-4CC2-E24B-DDF2-643D0AC33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FDC2-EBAE-7D4F-9440-E528C0099811}" type="datetimeFigureOut">
              <a:rPr lang="fr-FR" smtClean="0"/>
              <a:t>26/01/2025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2538FB-16E9-98DA-B0D9-0B984A7A9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99A45C-DB3B-85CC-8D9B-4315118D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E23F-49A5-4044-A2C4-42CC9BB0E1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6784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83375B-2F24-A568-B845-C83D7D31A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E83C0D-9B7A-102D-A628-63A6F410E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6F9FEC-BCB7-0B69-20AB-037FF4975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FDC2-EBAE-7D4F-9440-E528C0099811}" type="datetimeFigureOut">
              <a:rPr lang="fr-FR" smtClean="0"/>
              <a:t>26/01/2025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EAC1F5-E1CD-15E7-AC27-037E52A3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21472A5-8427-ED3E-83FA-7A0DDEE03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E23F-49A5-4044-A2C4-42CC9BB0E1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6504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A98B8C-B80D-F1A8-3EC6-5FEBB8FF1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43278FA-4384-7AEB-7F34-4659B337B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CB9561-15B9-5AE3-E425-216A4AA72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FDC2-EBAE-7D4F-9440-E528C0099811}" type="datetimeFigureOut">
              <a:rPr lang="fr-FR" smtClean="0"/>
              <a:t>26/01/2025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2726E8-88EE-CBC3-A360-7914B2D4A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52F949-E4E7-A6E3-6250-CA623CE81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E23F-49A5-4044-A2C4-42CC9BB0E1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2478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06A17F-B084-C8E5-85D7-86FDA0049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EAE3E7-3A5C-5CF9-2B99-B6644EDF8F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3D4310-7A02-6013-EAEE-6F9E80F46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D8D44BF-1B51-9CF7-51A9-21826DD2B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FDC2-EBAE-7D4F-9440-E528C0099811}" type="datetimeFigureOut">
              <a:rPr lang="fr-FR" smtClean="0"/>
              <a:t>26/01/2025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6665D11-6069-B284-F4D6-F63B2EEB7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6239468-C703-7A5C-B258-F6E282308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E23F-49A5-4044-A2C4-42CC9BB0E1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182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2C9541-5663-CFA5-8B44-5136ECF62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1E62F86-8C5B-1FB0-7AB6-90A63D383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750689-C7FB-92FE-64ED-A07EA6812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9B7B703-04ED-27C9-2BB0-3182726255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A84F265-B60B-E8CA-AD6B-E00463626E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AF30F6D-6164-B51A-DE5B-271DBB142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FDC2-EBAE-7D4F-9440-E528C0099811}" type="datetimeFigureOut">
              <a:rPr lang="fr-FR" smtClean="0"/>
              <a:t>26/01/2025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F787915-4A75-D868-33D3-FDF378BB8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A326917-38AE-89C6-7C95-47F664CB8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E23F-49A5-4044-A2C4-42CC9BB0E1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3552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BD60C5-497B-DD5B-AD20-D8F5519D3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8DAF786-9549-CEA7-133E-DD948856D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FDC2-EBAE-7D4F-9440-E528C0099811}" type="datetimeFigureOut">
              <a:rPr lang="fr-FR" smtClean="0"/>
              <a:t>26/01/2025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52F8F82-D0AD-14DD-32CA-CA236C92B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2B5D884-E853-AD99-13BB-53AD4BF6C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E23F-49A5-4044-A2C4-42CC9BB0E1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5728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39257C0-9143-0841-5C39-365E5510C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FDC2-EBAE-7D4F-9440-E528C0099811}" type="datetimeFigureOut">
              <a:rPr lang="fr-FR" smtClean="0"/>
              <a:t>26/01/2025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18BC073-1067-9F22-ABCE-64563C0A0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47AA060-38B6-DBCC-279A-530836EB9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E23F-49A5-4044-A2C4-42CC9BB0E1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6609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48A3C1-00BA-1BC9-4EDA-85FCA44B0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642E3A-9687-031D-377C-879A2DD7D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A700199-7E0E-5DC7-FBE5-B19562DE1B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E1B0120-8A10-5DE9-1A4D-1A4450AAB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FDC2-EBAE-7D4F-9440-E528C0099811}" type="datetimeFigureOut">
              <a:rPr lang="fr-FR" smtClean="0"/>
              <a:t>26/01/2025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E630F5F-CE7B-5477-7D3C-FE425D545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6CD2167-D07A-C79E-59B7-15585870E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E23F-49A5-4044-A2C4-42CC9BB0E1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6379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874775-270B-3B88-C170-C857E6A07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49DFDE8-9C9E-8FC1-906E-FEEAC5BB8B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EB9E41D-F5FC-6603-7EA9-7BCAFCD109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E56759C-5D43-A5E6-F7F9-EA2549891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FDC2-EBAE-7D4F-9440-E528C0099811}" type="datetimeFigureOut">
              <a:rPr lang="fr-FR" smtClean="0"/>
              <a:t>26/01/2025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31E797-23C4-233A-0E31-6737C864B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9980A2-C39E-D821-C48A-ED953A232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E23F-49A5-4044-A2C4-42CC9BB0E1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6184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03CAB6-BB6B-CEB9-5A75-A12ACC866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317FD43-AB38-3E47-BC21-D1A21AE575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9AB798-B488-83FC-A97B-2A5DD8BCF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FDC2-EBAE-7D4F-9440-E528C0099811}" type="datetimeFigureOut">
              <a:rPr lang="fr-FR" smtClean="0"/>
              <a:t>26/01/2025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961080-292A-3363-238A-10E09F9DB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DCEBD2-072A-C3C3-D8D2-5B4931CC4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E23F-49A5-4044-A2C4-42CC9BB0E1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3182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81DAFD6-CBD6-AFE5-5C9D-436AF85BBD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F638B3F-ACD6-AAB5-7EE9-865D785A8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73A7C7-1FBB-D380-4269-DFA1122A7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FDC2-EBAE-7D4F-9440-E528C0099811}" type="datetimeFigureOut">
              <a:rPr lang="fr-FR" smtClean="0"/>
              <a:t>26/01/2025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BAA783-5D6E-2B9E-D686-233882198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755DE5-D93B-C5DF-83D9-4AE43EC9C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E23F-49A5-4044-A2C4-42CC9BB0E1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4030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39A2239-5DCF-9C7E-7DD2-2F62577A6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795EA05-F069-E078-90C5-5CAC8906C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280E68-0595-7698-BB06-F97B1E135D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35FDC2-EBAE-7D4F-9440-E528C0099811}" type="datetimeFigureOut">
              <a:rPr lang="fr-FR" smtClean="0"/>
              <a:t>26/01/2025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7D38BD-92E6-B8F9-282D-220B3E5A4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2093C4-663F-25B7-9773-F9801E68C3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D5E23F-49A5-4044-A2C4-42CC9BB0E1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6658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8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Relationship Id="rId9" Type="http://schemas.openxmlformats.org/officeDocument/2006/relationships/image" Target="../media/image7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1.png"/><Relationship Id="rId4" Type="http://schemas.openxmlformats.org/officeDocument/2006/relationships/image" Target="../media/image7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83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AB8D1F1-1D8B-BAA0-20DA-3A8E505CC9A6}"/>
              </a:ext>
            </a:extLst>
          </p:cNvPr>
          <p:cNvSpPr txBox="1"/>
          <p:nvPr/>
        </p:nvSpPr>
        <p:spPr>
          <a:xfrm>
            <a:off x="986589" y="-8968"/>
            <a:ext cx="23822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Body </a:t>
            </a:r>
            <a:r>
              <a:rPr lang="fr-FR" sz="1600" b="1" dirty="0" err="1"/>
              <a:t>Measures</a:t>
            </a:r>
            <a:endParaRPr lang="fr-FR" sz="1600" b="1" dirty="0"/>
          </a:p>
        </p:txBody>
      </p:sp>
      <p:pic>
        <p:nvPicPr>
          <p:cNvPr id="5" name="Image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ED1604E4-AEB8-7CCB-BB93-B6E82DDD9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5955"/>
            <a:ext cx="3839294" cy="1546220"/>
          </a:xfrm>
          <a:prstGeom prst="rect">
            <a:avLst/>
          </a:prstGeom>
        </p:spPr>
      </p:pic>
      <p:pic>
        <p:nvPicPr>
          <p:cNvPr id="7" name="Image 6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6B5A9134-ED28-0C93-CE22-5F574919F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67938"/>
            <a:ext cx="3839294" cy="1509567"/>
          </a:xfrm>
          <a:prstGeom prst="rect">
            <a:avLst/>
          </a:prstGeom>
        </p:spPr>
      </p:pic>
      <p:pic>
        <p:nvPicPr>
          <p:cNvPr id="9" name="Image 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A901E3CE-85A1-606F-AD72-25E42B03D8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29000"/>
            <a:ext cx="3839294" cy="1540457"/>
          </a:xfrm>
          <a:prstGeom prst="rect">
            <a:avLst/>
          </a:prstGeom>
        </p:spPr>
      </p:pic>
      <p:pic>
        <p:nvPicPr>
          <p:cNvPr id="11" name="Image 10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74A5137D-F3DE-4CF8-7BC6-2DA1F616FB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975826"/>
            <a:ext cx="3839294" cy="1529718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6690634B-68A8-B6B4-4DFE-587FFC7FA962}"/>
              </a:ext>
            </a:extLst>
          </p:cNvPr>
          <p:cNvSpPr txBox="1"/>
          <p:nvPr/>
        </p:nvSpPr>
        <p:spPr>
          <a:xfrm>
            <a:off x="4501031" y="0"/>
            <a:ext cx="2549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Blood Pressure (P_BPXO)</a:t>
            </a:r>
          </a:p>
        </p:txBody>
      </p:sp>
      <p:pic>
        <p:nvPicPr>
          <p:cNvPr id="15" name="Image 1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587B181A-98A9-80DE-3939-3853F1E3BB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9294" y="401687"/>
            <a:ext cx="3757272" cy="1531983"/>
          </a:xfrm>
          <a:prstGeom prst="rect">
            <a:avLst/>
          </a:prstGeom>
        </p:spPr>
      </p:pic>
      <p:pic>
        <p:nvPicPr>
          <p:cNvPr id="17" name="Image 16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3D1C7870-EC36-92E0-BD51-288BCE84FB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9294" y="1888544"/>
            <a:ext cx="3757272" cy="1493717"/>
          </a:xfrm>
          <a:prstGeom prst="rect">
            <a:avLst/>
          </a:prstGeom>
        </p:spPr>
      </p:pic>
      <p:pic>
        <p:nvPicPr>
          <p:cNvPr id="19" name="Image 1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B83ED7FB-AB1F-D801-14FB-C829D5E12C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11779" y="3429000"/>
            <a:ext cx="3856119" cy="1561668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268B8B25-BAF0-427C-FE4F-7C94F395870F}"/>
              </a:ext>
            </a:extLst>
          </p:cNvPr>
          <p:cNvSpPr txBox="1"/>
          <p:nvPr/>
        </p:nvSpPr>
        <p:spPr>
          <a:xfrm>
            <a:off x="4501031" y="5007723"/>
            <a:ext cx="2549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 err="1"/>
              <a:t>Demographics</a:t>
            </a:r>
            <a:r>
              <a:rPr lang="fr-FR" sz="1600" b="1" dirty="0"/>
              <a:t> Data</a:t>
            </a:r>
          </a:p>
        </p:txBody>
      </p:sp>
      <p:pic>
        <p:nvPicPr>
          <p:cNvPr id="24" name="Image 2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D52DA9CD-2A2E-E25E-36AF-332E52D5EC8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83112" y="5378174"/>
            <a:ext cx="3513454" cy="1365764"/>
          </a:xfrm>
          <a:prstGeom prst="rect">
            <a:avLst/>
          </a:prstGeom>
        </p:spPr>
      </p:pic>
      <p:pic>
        <p:nvPicPr>
          <p:cNvPr id="26" name="Image 25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E1B6092E-025F-C24F-DA12-3B561CC0283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96566" y="401687"/>
            <a:ext cx="3839294" cy="1648706"/>
          </a:xfrm>
          <a:prstGeom prst="rect">
            <a:avLst/>
          </a:prstGeom>
        </p:spPr>
      </p:pic>
      <p:pic>
        <p:nvPicPr>
          <p:cNvPr id="28" name="Image 2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89CC0A9B-1783-CD00-D873-1094E9890C2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35284" y="2077526"/>
            <a:ext cx="3600575" cy="1683241"/>
          </a:xfrm>
          <a:prstGeom prst="rect">
            <a:avLst/>
          </a:prstGeom>
        </p:spPr>
      </p:pic>
      <p:pic>
        <p:nvPicPr>
          <p:cNvPr id="30" name="Image 29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1A6D54A6-44A6-1992-4EA8-30786D2830E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36972" y="3870777"/>
            <a:ext cx="3529560" cy="221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164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8D29C8C-CBEB-0E68-5FF8-E766F686146C}"/>
              </a:ext>
            </a:extLst>
          </p:cNvPr>
          <p:cNvSpPr txBox="1"/>
          <p:nvPr/>
        </p:nvSpPr>
        <p:spPr>
          <a:xfrm>
            <a:off x="569495" y="5179"/>
            <a:ext cx="2549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 err="1"/>
              <a:t>Demographics</a:t>
            </a:r>
            <a:r>
              <a:rPr lang="fr-FR" sz="1600" b="1" dirty="0"/>
              <a:t> Data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A8B54C0-5098-7F64-25A1-D1EDDF6A5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8554"/>
            <a:ext cx="3118969" cy="1616889"/>
          </a:xfrm>
          <a:prstGeom prst="rect">
            <a:avLst/>
          </a:prstGeom>
        </p:spPr>
      </p:pic>
      <p:pic>
        <p:nvPicPr>
          <p:cNvPr id="6" name="Image 5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A2D96451-4AEA-6A6A-A4FD-8F5099F047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1" y="1955443"/>
            <a:ext cx="3066248" cy="2387957"/>
          </a:xfrm>
          <a:prstGeom prst="rect">
            <a:avLst/>
          </a:prstGeom>
        </p:spPr>
      </p:pic>
      <p:pic>
        <p:nvPicPr>
          <p:cNvPr id="8" name="Image 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F079C1A1-4BDD-2923-09CD-595F45524A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417596"/>
            <a:ext cx="3122589" cy="1830804"/>
          </a:xfrm>
          <a:prstGeom prst="rect">
            <a:avLst/>
          </a:prstGeom>
        </p:spPr>
      </p:pic>
      <p:pic>
        <p:nvPicPr>
          <p:cNvPr id="11" name="Image 10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7911A927-7AA6-F535-C8F4-94F85F023F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2639" y="338554"/>
            <a:ext cx="4429957" cy="1908084"/>
          </a:xfrm>
          <a:prstGeom prst="rect">
            <a:avLst/>
          </a:prstGeom>
        </p:spPr>
      </p:pic>
      <p:pic>
        <p:nvPicPr>
          <p:cNvPr id="13" name="Image 12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109DE11C-C634-EE8E-111A-11E58AE941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0082" y="2547597"/>
            <a:ext cx="4386864" cy="2387957"/>
          </a:xfrm>
          <a:prstGeom prst="rect">
            <a:avLst/>
          </a:prstGeom>
        </p:spPr>
      </p:pic>
      <p:pic>
        <p:nvPicPr>
          <p:cNvPr id="5" name="Image 4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B5461AF8-02EE-9246-8E8B-AAFC9478EC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8993" y="3221183"/>
            <a:ext cx="33401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314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5CD7332-C0F9-A361-FC9F-3EBC82B3E3B8}"/>
              </a:ext>
            </a:extLst>
          </p:cNvPr>
          <p:cNvSpPr txBox="1"/>
          <p:nvPr/>
        </p:nvSpPr>
        <p:spPr>
          <a:xfrm>
            <a:off x="110847" y="71606"/>
            <a:ext cx="2549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Questionnaire Data</a:t>
            </a:r>
            <a:r>
              <a:rPr lang="ru-RU" sz="1600" b="1" dirty="0"/>
              <a:t> </a:t>
            </a:r>
            <a:endParaRPr lang="fr-FR" sz="1600" b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CE121AD-6EEF-64E7-9EB0-96C49245E40D}"/>
              </a:ext>
            </a:extLst>
          </p:cNvPr>
          <p:cNvSpPr txBox="1"/>
          <p:nvPr/>
        </p:nvSpPr>
        <p:spPr>
          <a:xfrm>
            <a:off x="206097" y="410160"/>
            <a:ext cx="25494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 err="1">
                <a:solidFill>
                  <a:schemeClr val="accent4"/>
                </a:solidFill>
              </a:rPr>
              <a:t>Alcohol</a:t>
            </a:r>
            <a:r>
              <a:rPr lang="fr-FR" sz="1200" b="1" dirty="0">
                <a:solidFill>
                  <a:schemeClr val="accent4"/>
                </a:solidFill>
              </a:rPr>
              <a:t> Use (P_ALQ)</a:t>
            </a:r>
            <a:r>
              <a:rPr lang="ru-RU" sz="1200" b="1" dirty="0">
                <a:solidFill>
                  <a:schemeClr val="accent4"/>
                </a:solidFill>
              </a:rPr>
              <a:t> 2017-2020</a:t>
            </a:r>
            <a:endParaRPr lang="fr-FR" sz="1200" b="1" dirty="0">
              <a:solidFill>
                <a:schemeClr val="accent4"/>
              </a:solidFill>
            </a:endParaRPr>
          </a:p>
        </p:txBody>
      </p:sp>
      <p:pic>
        <p:nvPicPr>
          <p:cNvPr id="7" name="Image 6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0896E824-C4DA-45C4-EAA9-90633F2C3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46" y="739187"/>
            <a:ext cx="3396383" cy="222308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862F8CF-C6A6-2CC8-1B6F-2C3610F031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47" y="3058570"/>
            <a:ext cx="3396382" cy="325097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F6593AF-FE35-1F55-624C-33138EEA2E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525" y="739186"/>
            <a:ext cx="3412673" cy="227511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F970634A-773F-D8A7-A828-47749508A6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3243" y="3058570"/>
            <a:ext cx="3211432" cy="3508609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AE03B7E2-CC55-ABEF-4E9C-3ADB19D95F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7211" y="1673224"/>
            <a:ext cx="4976321" cy="308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696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67275-CEE8-8EE6-ABEB-061809357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8B0F6A1-3912-E8BB-BD19-A2CD08F0165E}"/>
              </a:ext>
            </a:extLst>
          </p:cNvPr>
          <p:cNvSpPr txBox="1"/>
          <p:nvPr/>
        </p:nvSpPr>
        <p:spPr>
          <a:xfrm>
            <a:off x="110847" y="71606"/>
            <a:ext cx="2549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Questionnaire Data</a:t>
            </a:r>
            <a:r>
              <a:rPr lang="ru-RU" sz="1600" b="1" dirty="0"/>
              <a:t> </a:t>
            </a:r>
            <a:endParaRPr lang="fr-FR" sz="1600" b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DBEC081-C3B5-76E1-024D-BE24222B3AFC}"/>
              </a:ext>
            </a:extLst>
          </p:cNvPr>
          <p:cNvSpPr txBox="1"/>
          <p:nvPr/>
        </p:nvSpPr>
        <p:spPr>
          <a:xfrm>
            <a:off x="206097" y="410160"/>
            <a:ext cx="25494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 err="1">
                <a:solidFill>
                  <a:schemeClr val="accent4"/>
                </a:solidFill>
              </a:rPr>
              <a:t>Alcohol</a:t>
            </a:r>
            <a:r>
              <a:rPr lang="fr-FR" sz="1200" b="1" dirty="0">
                <a:solidFill>
                  <a:schemeClr val="accent4"/>
                </a:solidFill>
              </a:rPr>
              <a:t> Use (P_ALQ)</a:t>
            </a:r>
            <a:r>
              <a:rPr lang="ru-RU" sz="1200" b="1" dirty="0">
                <a:solidFill>
                  <a:schemeClr val="accent4"/>
                </a:solidFill>
              </a:rPr>
              <a:t> 2015-2016</a:t>
            </a:r>
            <a:endParaRPr lang="fr-FR" sz="1200" b="1" dirty="0">
              <a:solidFill>
                <a:schemeClr val="accent4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8F3E763-9D2B-A392-EAF8-D12A57206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96" y="661679"/>
            <a:ext cx="2983415" cy="1689072"/>
          </a:xfrm>
          <a:prstGeom prst="rect">
            <a:avLst/>
          </a:prstGeom>
        </p:spPr>
      </p:pic>
      <p:pic>
        <p:nvPicPr>
          <p:cNvPr id="8" name="Image 7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0264075E-4408-4F1F-3647-8824D0666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44" y="2438150"/>
            <a:ext cx="3093469" cy="1689072"/>
          </a:xfrm>
          <a:prstGeom prst="rect">
            <a:avLst/>
          </a:prstGeom>
        </p:spPr>
      </p:pic>
      <p:pic>
        <p:nvPicPr>
          <p:cNvPr id="12" name="Image 11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160D3091-B3EB-0483-0A49-60FB0F860D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068" y="4523875"/>
            <a:ext cx="3093470" cy="1869166"/>
          </a:xfrm>
          <a:prstGeom prst="rect">
            <a:avLst/>
          </a:prstGeom>
        </p:spPr>
      </p:pic>
      <p:pic>
        <p:nvPicPr>
          <p:cNvPr id="16" name="Image 15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AD4DB752-6766-9A36-D907-C6F25D8489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2433" y="661679"/>
            <a:ext cx="2916697" cy="1689072"/>
          </a:xfrm>
          <a:prstGeom prst="rect">
            <a:avLst/>
          </a:prstGeom>
        </p:spPr>
      </p:pic>
      <p:pic>
        <p:nvPicPr>
          <p:cNvPr id="18" name="Image 1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F9AE5039-268B-DDA5-52D2-9BCFFB1562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2433" y="2413402"/>
            <a:ext cx="3152474" cy="1869166"/>
          </a:xfrm>
          <a:prstGeom prst="rect">
            <a:avLst/>
          </a:prstGeom>
        </p:spPr>
      </p:pic>
      <p:pic>
        <p:nvPicPr>
          <p:cNvPr id="20" name="Image 19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7898FBFA-CC72-8444-EF0B-BE190B4072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4309" y="4523875"/>
            <a:ext cx="3297198" cy="1960760"/>
          </a:xfrm>
          <a:prstGeom prst="rect">
            <a:avLst/>
          </a:prstGeom>
        </p:spPr>
      </p:pic>
      <p:pic>
        <p:nvPicPr>
          <p:cNvPr id="22" name="Image 21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015112DB-B2A7-9D97-3BF0-A49EEEDBEF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9868" y="4127222"/>
            <a:ext cx="3277783" cy="2024513"/>
          </a:xfrm>
          <a:prstGeom prst="rect">
            <a:avLst/>
          </a:prstGeom>
        </p:spPr>
      </p:pic>
      <p:pic>
        <p:nvPicPr>
          <p:cNvPr id="24" name="Image 23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3807E3A0-8E50-8F57-B8A9-2B6C6BEA71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94176" y="1519417"/>
            <a:ext cx="3473541" cy="216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447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8D47C-57AC-F942-DFC8-267A45D71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6797D98-49B3-5F6C-CFDE-327C408D01A8}"/>
              </a:ext>
            </a:extLst>
          </p:cNvPr>
          <p:cNvSpPr txBox="1"/>
          <p:nvPr/>
        </p:nvSpPr>
        <p:spPr>
          <a:xfrm>
            <a:off x="110847" y="71606"/>
            <a:ext cx="2549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Questionnaire Data</a:t>
            </a:r>
            <a:r>
              <a:rPr lang="ru-RU" sz="1600" b="1" dirty="0"/>
              <a:t> </a:t>
            </a:r>
            <a:endParaRPr lang="fr-FR" sz="1600" b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9DDDE28-7037-FEE2-1A48-78C44C720B75}"/>
              </a:ext>
            </a:extLst>
          </p:cNvPr>
          <p:cNvSpPr txBox="1"/>
          <p:nvPr/>
        </p:nvSpPr>
        <p:spPr>
          <a:xfrm>
            <a:off x="206096" y="410160"/>
            <a:ext cx="31214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>
                <a:solidFill>
                  <a:schemeClr val="accent4"/>
                </a:solidFill>
              </a:rPr>
              <a:t>Blood Pressure &amp; </a:t>
            </a:r>
            <a:r>
              <a:rPr lang="fr-FR" sz="1200" b="1" dirty="0" err="1">
                <a:solidFill>
                  <a:schemeClr val="accent4"/>
                </a:solidFill>
              </a:rPr>
              <a:t>Cholesterol</a:t>
            </a:r>
            <a:r>
              <a:rPr lang="fr-FR" sz="1200" b="1" dirty="0">
                <a:solidFill>
                  <a:schemeClr val="accent4"/>
                </a:solidFill>
              </a:rPr>
              <a:t> (P_BPQ)</a:t>
            </a:r>
          </a:p>
        </p:txBody>
      </p:sp>
      <p:pic>
        <p:nvPicPr>
          <p:cNvPr id="4" name="Image 3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72675262-3D95-62E8-8449-B78023299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46" y="687159"/>
            <a:ext cx="2907362" cy="1634263"/>
          </a:xfrm>
          <a:prstGeom prst="rect">
            <a:avLst/>
          </a:prstGeom>
        </p:spPr>
      </p:pic>
      <p:pic>
        <p:nvPicPr>
          <p:cNvPr id="8" name="Image 7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09F400A4-36FF-C22B-7DEF-AB90FE261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46" y="2326630"/>
            <a:ext cx="2976113" cy="1597795"/>
          </a:xfrm>
          <a:prstGeom prst="rect">
            <a:avLst/>
          </a:prstGeom>
        </p:spPr>
      </p:pic>
      <p:pic>
        <p:nvPicPr>
          <p:cNvPr id="12" name="Image 11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0B18A67A-2C83-A58B-2B69-50A5291EC7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46" y="3960893"/>
            <a:ext cx="2976113" cy="1510400"/>
          </a:xfrm>
          <a:prstGeom prst="rect">
            <a:avLst/>
          </a:prstGeom>
        </p:spPr>
      </p:pic>
      <p:pic>
        <p:nvPicPr>
          <p:cNvPr id="16" name="Image 15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EB03FA6B-6B6D-5FD0-0EE7-B82E77F060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2208" y="687159"/>
            <a:ext cx="3121495" cy="1672897"/>
          </a:xfrm>
          <a:prstGeom prst="rect">
            <a:avLst/>
          </a:prstGeom>
        </p:spPr>
      </p:pic>
      <p:pic>
        <p:nvPicPr>
          <p:cNvPr id="18" name="Image 17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F21FBB39-C91B-D154-8E92-4FBBB8D908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5089" y="2391993"/>
            <a:ext cx="2961850" cy="167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512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7ED95-71F5-71EE-BFE4-C9434FBEF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4FE464D-3695-E8AA-F806-444FD12E2740}"/>
              </a:ext>
            </a:extLst>
          </p:cNvPr>
          <p:cNvSpPr txBox="1"/>
          <p:nvPr/>
        </p:nvSpPr>
        <p:spPr>
          <a:xfrm>
            <a:off x="110847" y="71606"/>
            <a:ext cx="2549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Questionnaire Data</a:t>
            </a:r>
            <a:r>
              <a:rPr lang="ru-RU" sz="1600" b="1" dirty="0"/>
              <a:t> </a:t>
            </a:r>
            <a:endParaRPr lang="fr-FR" sz="1600" b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70545C5-A355-5DE8-2DDB-80588AE6BC03}"/>
              </a:ext>
            </a:extLst>
          </p:cNvPr>
          <p:cNvSpPr txBox="1"/>
          <p:nvPr/>
        </p:nvSpPr>
        <p:spPr>
          <a:xfrm>
            <a:off x="206096" y="410160"/>
            <a:ext cx="31214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 err="1">
                <a:solidFill>
                  <a:schemeClr val="accent4"/>
                </a:solidFill>
              </a:rPr>
              <a:t>Diabetes</a:t>
            </a:r>
            <a:r>
              <a:rPr lang="fr-FR" sz="1200" b="1" dirty="0">
                <a:solidFill>
                  <a:schemeClr val="accent4"/>
                </a:solidFill>
              </a:rPr>
              <a:t> (P_DIQ)</a:t>
            </a:r>
          </a:p>
        </p:txBody>
      </p:sp>
      <p:pic>
        <p:nvPicPr>
          <p:cNvPr id="6" name="Image 5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2FFBC921-9A35-D0E5-7A81-9C2078AF5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47" y="687159"/>
            <a:ext cx="2650463" cy="1925412"/>
          </a:xfrm>
          <a:prstGeom prst="rect">
            <a:avLst/>
          </a:prstGeom>
        </p:spPr>
      </p:pic>
      <p:pic>
        <p:nvPicPr>
          <p:cNvPr id="9" name="Image 8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EFE45B40-0199-03FA-27B0-EDDE48966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47" y="2621439"/>
            <a:ext cx="2650463" cy="1967522"/>
          </a:xfrm>
          <a:prstGeom prst="rect">
            <a:avLst/>
          </a:prstGeom>
        </p:spPr>
      </p:pic>
      <p:pic>
        <p:nvPicPr>
          <p:cNvPr id="11" name="Image 10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A229F6A4-CC14-5509-8C63-292972A9FB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6559" y="687159"/>
            <a:ext cx="3239441" cy="2044403"/>
          </a:xfrm>
          <a:prstGeom prst="rect">
            <a:avLst/>
          </a:prstGeom>
        </p:spPr>
      </p:pic>
      <p:pic>
        <p:nvPicPr>
          <p:cNvPr id="14" name="Image 13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FFDBD501-023B-C12A-A873-C1FC402A3D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3239" y="3011079"/>
            <a:ext cx="3475998" cy="215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746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506A3-9822-0414-7A90-C15FB8FB4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F52D429-06D0-7C44-174C-441DA514F459}"/>
              </a:ext>
            </a:extLst>
          </p:cNvPr>
          <p:cNvSpPr txBox="1"/>
          <p:nvPr/>
        </p:nvSpPr>
        <p:spPr>
          <a:xfrm>
            <a:off x="110847" y="71606"/>
            <a:ext cx="2549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Questionnaire Data</a:t>
            </a:r>
            <a:r>
              <a:rPr lang="ru-RU" sz="1600" b="1" dirty="0"/>
              <a:t> </a:t>
            </a:r>
            <a:endParaRPr lang="fr-FR" sz="1600" b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213A814-5363-0491-137B-DF964917188F}"/>
              </a:ext>
            </a:extLst>
          </p:cNvPr>
          <p:cNvSpPr txBox="1"/>
          <p:nvPr/>
        </p:nvSpPr>
        <p:spPr>
          <a:xfrm>
            <a:off x="206096" y="410160"/>
            <a:ext cx="31214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>
                <a:solidFill>
                  <a:schemeClr val="accent4"/>
                </a:solidFill>
              </a:rPr>
              <a:t>Diet </a:t>
            </a:r>
            <a:r>
              <a:rPr lang="fr-FR" sz="1200" b="1" dirty="0" err="1">
                <a:solidFill>
                  <a:schemeClr val="accent4"/>
                </a:solidFill>
              </a:rPr>
              <a:t>Behavior</a:t>
            </a:r>
            <a:r>
              <a:rPr lang="fr-FR" sz="1200" b="1" dirty="0">
                <a:solidFill>
                  <a:schemeClr val="accent4"/>
                </a:solidFill>
              </a:rPr>
              <a:t> &amp; Nutrition (P_DBQ)</a:t>
            </a:r>
          </a:p>
        </p:txBody>
      </p:sp>
      <p:pic>
        <p:nvPicPr>
          <p:cNvPr id="4" name="Image 3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89622056-1115-1AB0-73F5-637B58E3C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47" y="687160"/>
            <a:ext cx="2309219" cy="1649442"/>
          </a:xfrm>
          <a:prstGeom prst="rect">
            <a:avLst/>
          </a:prstGeom>
        </p:spPr>
      </p:pic>
      <p:pic>
        <p:nvPicPr>
          <p:cNvPr id="8" name="Image 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E1A257E8-022D-5B72-9FAC-E7C01DBE8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30" y="2336602"/>
            <a:ext cx="2304148" cy="1547879"/>
          </a:xfrm>
          <a:prstGeom prst="rect">
            <a:avLst/>
          </a:prstGeom>
        </p:spPr>
      </p:pic>
      <p:pic>
        <p:nvPicPr>
          <p:cNvPr id="12" name="Image 11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DE0F26F8-235E-73C3-7D31-9939B9FACB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096" y="3884482"/>
            <a:ext cx="2312885" cy="1375038"/>
          </a:xfrm>
          <a:prstGeom prst="rect">
            <a:avLst/>
          </a:prstGeom>
        </p:spPr>
      </p:pic>
      <p:pic>
        <p:nvPicPr>
          <p:cNvPr id="15" name="Image 14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1A3FD413-B4A9-7B7A-9EA6-CA9B12FFCA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7227" y="687159"/>
            <a:ext cx="2551663" cy="2154208"/>
          </a:xfrm>
          <a:prstGeom prst="rect">
            <a:avLst/>
          </a:prstGeom>
        </p:spPr>
      </p:pic>
      <p:pic>
        <p:nvPicPr>
          <p:cNvPr id="17" name="Image 16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FF4C970B-D014-80CA-A8AB-FD2D05C3FF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0321" y="2895918"/>
            <a:ext cx="2551663" cy="2241431"/>
          </a:xfrm>
          <a:prstGeom prst="rect">
            <a:avLst/>
          </a:prstGeom>
        </p:spPr>
      </p:pic>
      <p:pic>
        <p:nvPicPr>
          <p:cNvPr id="19" name="Image 18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D906586E-7AFA-9E82-7201-D62C0B17FD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1984" y="339738"/>
            <a:ext cx="2549474" cy="1502930"/>
          </a:xfrm>
          <a:prstGeom prst="rect">
            <a:avLst/>
          </a:prstGeom>
        </p:spPr>
      </p:pic>
      <p:pic>
        <p:nvPicPr>
          <p:cNvPr id="21" name="Image 20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6EEF2003-5F4C-BA16-60E2-2A63CA0C5F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1965" y="1698172"/>
            <a:ext cx="2809018" cy="1569995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74CED8B8-A9AE-E4F4-3EF1-0E74C20547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0327" y="3345128"/>
            <a:ext cx="2887938" cy="1715260"/>
          </a:xfrm>
          <a:prstGeom prst="rect">
            <a:avLst/>
          </a:prstGeom>
        </p:spPr>
      </p:pic>
      <p:pic>
        <p:nvPicPr>
          <p:cNvPr id="25" name="Image 24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3D5E78FD-00C8-2E80-9E75-72DDE3F22E0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8753" y="250372"/>
            <a:ext cx="3852400" cy="259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887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4B119-19C8-6672-1902-68F981241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C84BA5E2-9DDD-2276-B921-79DFF5DA0DC2}"/>
              </a:ext>
            </a:extLst>
          </p:cNvPr>
          <p:cNvSpPr txBox="1"/>
          <p:nvPr/>
        </p:nvSpPr>
        <p:spPr>
          <a:xfrm>
            <a:off x="110847" y="71606"/>
            <a:ext cx="2549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Questionnaire Data</a:t>
            </a:r>
            <a:r>
              <a:rPr lang="ru-RU" sz="1600" b="1" dirty="0"/>
              <a:t> </a:t>
            </a:r>
            <a:endParaRPr lang="fr-FR" sz="1600" b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DFCBB63-202A-464B-74B8-968944BB7A2F}"/>
              </a:ext>
            </a:extLst>
          </p:cNvPr>
          <p:cNvSpPr txBox="1"/>
          <p:nvPr/>
        </p:nvSpPr>
        <p:spPr>
          <a:xfrm>
            <a:off x="206096" y="410160"/>
            <a:ext cx="31214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 err="1">
                <a:solidFill>
                  <a:schemeClr val="accent4"/>
                </a:solidFill>
              </a:rPr>
              <a:t>Health</a:t>
            </a:r>
            <a:r>
              <a:rPr lang="fr-FR" sz="1200" b="1" dirty="0">
                <a:solidFill>
                  <a:schemeClr val="accent4"/>
                </a:solidFill>
              </a:rPr>
              <a:t> </a:t>
            </a:r>
            <a:r>
              <a:rPr lang="fr-FR" sz="1200" b="1" dirty="0" err="1">
                <a:solidFill>
                  <a:schemeClr val="accent4"/>
                </a:solidFill>
              </a:rPr>
              <a:t>Insurance</a:t>
            </a:r>
            <a:r>
              <a:rPr lang="fr-FR" sz="1200" b="1" dirty="0">
                <a:solidFill>
                  <a:schemeClr val="accent4"/>
                </a:solidFill>
              </a:rPr>
              <a:t> (P_HIQ)</a:t>
            </a:r>
          </a:p>
        </p:txBody>
      </p:sp>
      <p:pic>
        <p:nvPicPr>
          <p:cNvPr id="4" name="Image 3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F7E10169-07E7-841A-8ECB-48C1BDEE9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97" y="694395"/>
            <a:ext cx="2334174" cy="138614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088701E-7454-A98B-7F92-5BB6065F362D}"/>
              </a:ext>
            </a:extLst>
          </p:cNvPr>
          <p:cNvSpPr txBox="1"/>
          <p:nvPr/>
        </p:nvSpPr>
        <p:spPr>
          <a:xfrm>
            <a:off x="211777" y="2132303"/>
            <a:ext cx="31214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 err="1">
                <a:solidFill>
                  <a:schemeClr val="accent4"/>
                </a:solidFill>
              </a:rPr>
              <a:t>Income</a:t>
            </a:r>
            <a:r>
              <a:rPr lang="fr-FR" sz="1200" b="1" dirty="0">
                <a:solidFill>
                  <a:schemeClr val="accent4"/>
                </a:solidFill>
              </a:rPr>
              <a:t> (P_INQ)</a:t>
            </a:r>
          </a:p>
        </p:txBody>
      </p:sp>
      <p:pic>
        <p:nvPicPr>
          <p:cNvPr id="10" name="Image 9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1D23DFF5-A310-D7BC-66E7-A6859C81D0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16" y="2409302"/>
            <a:ext cx="2614486" cy="1198641"/>
          </a:xfrm>
          <a:prstGeom prst="rect">
            <a:avLst/>
          </a:prstGeom>
        </p:spPr>
      </p:pic>
      <p:pic>
        <p:nvPicPr>
          <p:cNvPr id="13" name="Image 12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908E7F8B-84CB-3668-C76C-54BE7DBBFB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57" y="3661991"/>
            <a:ext cx="2727254" cy="1573416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A929929B-1E78-32E2-DB09-8B7DEE1EBCF0}"/>
              </a:ext>
            </a:extLst>
          </p:cNvPr>
          <p:cNvSpPr txBox="1"/>
          <p:nvPr/>
        </p:nvSpPr>
        <p:spPr>
          <a:xfrm>
            <a:off x="2994084" y="137938"/>
            <a:ext cx="31214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 err="1">
                <a:solidFill>
                  <a:schemeClr val="accent4"/>
                </a:solidFill>
              </a:rPr>
              <a:t>Medical</a:t>
            </a:r>
            <a:r>
              <a:rPr lang="fr-FR" sz="1200" b="1" dirty="0">
                <a:solidFill>
                  <a:schemeClr val="accent4"/>
                </a:solidFill>
              </a:rPr>
              <a:t> Conditions (P_MCQ)</a:t>
            </a:r>
          </a:p>
        </p:txBody>
      </p:sp>
      <p:pic>
        <p:nvPicPr>
          <p:cNvPr id="17" name="Image 16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17AD8A5A-FB85-49E5-22D1-A3B8D54100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5951" y="502481"/>
            <a:ext cx="2997868" cy="1614951"/>
          </a:xfrm>
          <a:prstGeom prst="rect">
            <a:avLst/>
          </a:prstGeom>
        </p:spPr>
      </p:pic>
      <p:pic>
        <p:nvPicPr>
          <p:cNvPr id="19" name="Image 18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65782495-5906-2350-7A11-9E5D4B52D6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4263" y="2200505"/>
            <a:ext cx="3349740" cy="1758094"/>
          </a:xfrm>
          <a:prstGeom prst="rect">
            <a:avLst/>
          </a:prstGeom>
        </p:spPr>
      </p:pic>
      <p:pic>
        <p:nvPicPr>
          <p:cNvPr id="21" name="Image 20" descr="Une image contenant texte, capture d’écran, reçu, nombre&#10;&#10;Le contenu généré par l’IA peut être incorrect.">
            <a:extLst>
              <a:ext uri="{FF2B5EF4-FFF2-40B4-BE49-F238E27FC236}">
                <a16:creationId xmlns:a16="http://schemas.microsoft.com/office/drawing/2014/main" id="{424C9010-5645-8FCE-C86C-CF68B77E0F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77255" y="4097180"/>
            <a:ext cx="2955152" cy="1587026"/>
          </a:xfrm>
          <a:prstGeom prst="rect">
            <a:avLst/>
          </a:prstGeom>
        </p:spPr>
      </p:pic>
      <p:pic>
        <p:nvPicPr>
          <p:cNvPr id="23" name="Image 22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C0E5CD0A-FEC7-5BC4-3DAD-ECD2808E8B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5745" y="2917469"/>
            <a:ext cx="2955152" cy="1614388"/>
          </a:xfrm>
          <a:prstGeom prst="rect">
            <a:avLst/>
          </a:prstGeom>
        </p:spPr>
      </p:pic>
      <p:pic>
        <p:nvPicPr>
          <p:cNvPr id="25" name="Image 2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8B04BAD4-6A4C-E61C-1611-CF193867A5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84106" y="3800999"/>
            <a:ext cx="2235200" cy="1295400"/>
          </a:xfrm>
          <a:prstGeom prst="rect">
            <a:avLst/>
          </a:prstGeom>
        </p:spPr>
      </p:pic>
      <p:pic>
        <p:nvPicPr>
          <p:cNvPr id="27" name="Image 26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C2E11186-FECA-5C2B-7F25-F0FE7AB7030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77582" y="410160"/>
            <a:ext cx="3819496" cy="231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409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8F58C-9D3C-E52A-82A6-FDE7897A6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DF010BA-1576-7228-2F65-FB58BF0AEF91}"/>
              </a:ext>
            </a:extLst>
          </p:cNvPr>
          <p:cNvSpPr txBox="1"/>
          <p:nvPr/>
        </p:nvSpPr>
        <p:spPr>
          <a:xfrm>
            <a:off x="110847" y="71606"/>
            <a:ext cx="2549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Questionnaire Data</a:t>
            </a:r>
            <a:r>
              <a:rPr lang="ru-RU" sz="1600" b="1" dirty="0"/>
              <a:t> </a:t>
            </a:r>
            <a:endParaRPr lang="fr-FR" sz="1600" b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8A37292-B687-1794-7759-579F40C3186B}"/>
              </a:ext>
            </a:extLst>
          </p:cNvPr>
          <p:cNvSpPr txBox="1"/>
          <p:nvPr/>
        </p:nvSpPr>
        <p:spPr>
          <a:xfrm>
            <a:off x="288599" y="410160"/>
            <a:ext cx="3664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>
                <a:solidFill>
                  <a:schemeClr val="accent4"/>
                </a:solidFill>
              </a:rPr>
              <a:t>Mental </a:t>
            </a:r>
            <a:r>
              <a:rPr lang="fr-FR" sz="1200" b="1" dirty="0" err="1">
                <a:solidFill>
                  <a:schemeClr val="accent4"/>
                </a:solidFill>
              </a:rPr>
              <a:t>Health</a:t>
            </a:r>
            <a:r>
              <a:rPr lang="fr-FR" sz="1200" b="1" dirty="0">
                <a:solidFill>
                  <a:schemeClr val="accent4"/>
                </a:solidFill>
              </a:rPr>
              <a:t> - </a:t>
            </a:r>
            <a:r>
              <a:rPr lang="fr-FR" sz="1200" b="1" dirty="0" err="1">
                <a:solidFill>
                  <a:schemeClr val="accent4"/>
                </a:solidFill>
              </a:rPr>
              <a:t>Depression</a:t>
            </a:r>
            <a:r>
              <a:rPr lang="fr-FR" sz="1200" b="1" dirty="0">
                <a:solidFill>
                  <a:schemeClr val="accent4"/>
                </a:solidFill>
              </a:rPr>
              <a:t> </a:t>
            </a:r>
            <a:r>
              <a:rPr lang="fr-FR" sz="1200" b="1" dirty="0" err="1">
                <a:solidFill>
                  <a:schemeClr val="accent4"/>
                </a:solidFill>
              </a:rPr>
              <a:t>Screener</a:t>
            </a:r>
            <a:r>
              <a:rPr lang="fr-FR" sz="1200" b="1" dirty="0">
                <a:solidFill>
                  <a:schemeClr val="accent4"/>
                </a:solidFill>
              </a:rPr>
              <a:t> (P_DPQ)</a:t>
            </a:r>
          </a:p>
        </p:txBody>
      </p:sp>
      <p:pic>
        <p:nvPicPr>
          <p:cNvPr id="4" name="Image 3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DCF8E583-B4A1-C595-2B0D-38BB8AAA8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46" y="687159"/>
            <a:ext cx="3592211" cy="2255823"/>
          </a:xfrm>
          <a:prstGeom prst="rect">
            <a:avLst/>
          </a:prstGeom>
        </p:spPr>
      </p:pic>
      <p:pic>
        <p:nvPicPr>
          <p:cNvPr id="8" name="Image 7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E4C3FC2F-7C1E-7FC3-8C80-2BC88C235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478" y="3122139"/>
            <a:ext cx="3497535" cy="2421370"/>
          </a:xfrm>
          <a:prstGeom prst="rect">
            <a:avLst/>
          </a:prstGeom>
        </p:spPr>
      </p:pic>
      <p:pic>
        <p:nvPicPr>
          <p:cNvPr id="12" name="Image 11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F4E60DA3-EFFD-8286-A8E4-AE1F4BE1F9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3293" y="687159"/>
            <a:ext cx="3592211" cy="2365602"/>
          </a:xfrm>
          <a:prstGeom prst="rect">
            <a:avLst/>
          </a:prstGeom>
        </p:spPr>
      </p:pic>
      <p:pic>
        <p:nvPicPr>
          <p:cNvPr id="15" name="Image 14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82DD552E-EED9-9F59-951B-1D47B48D06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9017" y="3122138"/>
            <a:ext cx="3661855" cy="2490062"/>
          </a:xfrm>
          <a:prstGeom prst="rect">
            <a:avLst/>
          </a:prstGeom>
        </p:spPr>
      </p:pic>
      <p:pic>
        <p:nvPicPr>
          <p:cNvPr id="17" name="Image 16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F01406C8-ECFF-7CD2-ECDE-B5870833B3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8303" y="687159"/>
            <a:ext cx="3661855" cy="247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95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ACCB7-D8E3-5B3D-1B84-5AC2A0E6C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DED67336-1378-F88C-A6B8-9BA4E0288F04}"/>
              </a:ext>
            </a:extLst>
          </p:cNvPr>
          <p:cNvSpPr txBox="1"/>
          <p:nvPr/>
        </p:nvSpPr>
        <p:spPr>
          <a:xfrm>
            <a:off x="110847" y="71606"/>
            <a:ext cx="2549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Questionnaire Data</a:t>
            </a:r>
            <a:r>
              <a:rPr lang="ru-RU" sz="1600" b="1" dirty="0"/>
              <a:t> </a:t>
            </a:r>
            <a:endParaRPr lang="fr-FR" sz="1600" b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D4F1BB2-581C-8FFA-A14C-A4A3EAFF3245}"/>
              </a:ext>
            </a:extLst>
          </p:cNvPr>
          <p:cNvSpPr txBox="1"/>
          <p:nvPr/>
        </p:nvSpPr>
        <p:spPr>
          <a:xfrm>
            <a:off x="288599" y="410160"/>
            <a:ext cx="3664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>
                <a:solidFill>
                  <a:schemeClr val="accent4"/>
                </a:solidFill>
              </a:rPr>
              <a:t>Physical Activity (P_PAQ)</a:t>
            </a:r>
          </a:p>
        </p:txBody>
      </p:sp>
      <p:pic>
        <p:nvPicPr>
          <p:cNvPr id="6" name="Image 5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4EEE83EE-F730-4D2F-2455-100106C40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4" y="748714"/>
            <a:ext cx="3664634" cy="2538753"/>
          </a:xfrm>
          <a:prstGeom prst="rect">
            <a:avLst/>
          </a:prstGeom>
        </p:spPr>
      </p:pic>
      <p:pic>
        <p:nvPicPr>
          <p:cNvPr id="9" name="Image 8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666CDB88-89D2-C1C3-CBD4-DD5C6C2AE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97636"/>
            <a:ext cx="3888379" cy="2149769"/>
          </a:xfrm>
          <a:prstGeom prst="rect">
            <a:avLst/>
          </a:prstGeom>
        </p:spPr>
      </p:pic>
      <p:pic>
        <p:nvPicPr>
          <p:cNvPr id="11" name="Image 10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798281DE-54AE-9E8D-AABA-2DE6743892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8001" y="548659"/>
            <a:ext cx="3748498" cy="2342812"/>
          </a:xfrm>
          <a:prstGeom prst="rect">
            <a:avLst/>
          </a:prstGeom>
        </p:spPr>
      </p:pic>
      <p:pic>
        <p:nvPicPr>
          <p:cNvPr id="14" name="Image 13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076045C6-2ECA-35B3-739C-54B8C55856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3233" y="3364190"/>
            <a:ext cx="3699440" cy="2416662"/>
          </a:xfrm>
          <a:prstGeom prst="rect">
            <a:avLst/>
          </a:prstGeom>
        </p:spPr>
      </p:pic>
      <p:pic>
        <p:nvPicPr>
          <p:cNvPr id="18" name="Image 17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8879BC7D-7549-5501-7F22-F3C91D63D7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4925" y="240882"/>
            <a:ext cx="4215162" cy="2438309"/>
          </a:xfrm>
          <a:prstGeom prst="rect">
            <a:avLst/>
          </a:prstGeom>
        </p:spPr>
      </p:pic>
      <p:pic>
        <p:nvPicPr>
          <p:cNvPr id="20" name="Image 19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87A79CD7-803C-4119-703E-BFAA1E2903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84570" y="2872552"/>
            <a:ext cx="4241800" cy="290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371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D34AE-85C2-E9CF-E2C3-F1D86E6D6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9A727ED-AD18-17F5-01D3-471746259D10}"/>
              </a:ext>
            </a:extLst>
          </p:cNvPr>
          <p:cNvSpPr txBox="1"/>
          <p:nvPr/>
        </p:nvSpPr>
        <p:spPr>
          <a:xfrm>
            <a:off x="110847" y="71606"/>
            <a:ext cx="2549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Questionnaire Data</a:t>
            </a:r>
            <a:r>
              <a:rPr lang="ru-RU" sz="1600" b="1" dirty="0"/>
              <a:t> </a:t>
            </a:r>
            <a:endParaRPr lang="fr-FR" sz="1600" b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AFEA808-DFDF-CB2E-B884-DA04F55E4023}"/>
              </a:ext>
            </a:extLst>
          </p:cNvPr>
          <p:cNvSpPr txBox="1"/>
          <p:nvPr/>
        </p:nvSpPr>
        <p:spPr>
          <a:xfrm>
            <a:off x="288599" y="410160"/>
            <a:ext cx="23717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 err="1">
                <a:solidFill>
                  <a:schemeClr val="accent4"/>
                </a:solidFill>
              </a:rPr>
              <a:t>Sleep</a:t>
            </a:r>
            <a:r>
              <a:rPr lang="fr-FR" sz="1200" b="1" dirty="0">
                <a:solidFill>
                  <a:schemeClr val="accent4"/>
                </a:solidFill>
              </a:rPr>
              <a:t> </a:t>
            </a:r>
            <a:r>
              <a:rPr lang="fr-FR" sz="1200" b="1" dirty="0" err="1">
                <a:solidFill>
                  <a:schemeClr val="accent4"/>
                </a:solidFill>
              </a:rPr>
              <a:t>Disorders</a:t>
            </a:r>
            <a:r>
              <a:rPr lang="fr-FR" sz="1200" b="1" dirty="0">
                <a:solidFill>
                  <a:schemeClr val="accent4"/>
                </a:solidFill>
              </a:rPr>
              <a:t> (P_SLQ)</a:t>
            </a:r>
          </a:p>
        </p:txBody>
      </p:sp>
      <p:pic>
        <p:nvPicPr>
          <p:cNvPr id="4" name="Image 3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6A6E437F-2F08-1A04-3CFC-317677BEC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96" y="748714"/>
            <a:ext cx="3504246" cy="1784174"/>
          </a:xfrm>
          <a:prstGeom prst="rect">
            <a:avLst/>
          </a:prstGeom>
        </p:spPr>
      </p:pic>
      <p:pic>
        <p:nvPicPr>
          <p:cNvPr id="8" name="Image 7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E9DF1F93-362D-E11B-1EF1-6754AC42AA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47" y="2532888"/>
            <a:ext cx="3669440" cy="253288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60E1E533-8868-330A-9E1D-3E43D171D0B0}"/>
              </a:ext>
            </a:extLst>
          </p:cNvPr>
          <p:cNvSpPr txBox="1"/>
          <p:nvPr/>
        </p:nvSpPr>
        <p:spPr>
          <a:xfrm>
            <a:off x="4171750" y="381039"/>
            <a:ext cx="26496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>
                <a:solidFill>
                  <a:schemeClr val="accent4"/>
                </a:solidFill>
              </a:rPr>
              <a:t>Smoking - Cigarette Use (P_SMQ)</a:t>
            </a:r>
          </a:p>
        </p:txBody>
      </p:sp>
      <p:pic>
        <p:nvPicPr>
          <p:cNvPr id="13" name="Image 12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B1B35CF6-6F77-1C17-552F-051BB2688C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4150" y="748714"/>
            <a:ext cx="3669440" cy="2028724"/>
          </a:xfrm>
          <a:prstGeom prst="rect">
            <a:avLst/>
          </a:prstGeom>
        </p:spPr>
      </p:pic>
      <p:pic>
        <p:nvPicPr>
          <p:cNvPr id="16" name="Image 15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35933B40-395B-CDF9-6624-9658301FF8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1750" y="2852001"/>
            <a:ext cx="3501136" cy="2457123"/>
          </a:xfrm>
          <a:prstGeom prst="rect">
            <a:avLst/>
          </a:prstGeom>
        </p:spPr>
      </p:pic>
      <p:pic>
        <p:nvPicPr>
          <p:cNvPr id="19" name="Image 1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0F3617A0-6F69-812D-D6A4-88A5E66D5D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7725" y="748714"/>
            <a:ext cx="4025948" cy="2270733"/>
          </a:xfrm>
          <a:prstGeom prst="rect">
            <a:avLst/>
          </a:prstGeom>
        </p:spPr>
      </p:pic>
      <p:pic>
        <p:nvPicPr>
          <p:cNvPr id="22" name="Image 21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B3D30E17-FC00-031F-52C9-BC8AC12486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9936" y="3267964"/>
            <a:ext cx="4114800" cy="226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866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2FBD9-5B7F-90E0-8E10-1E5776BBA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D91C9A10-1812-D234-593F-E805BAFEB008}"/>
              </a:ext>
            </a:extLst>
          </p:cNvPr>
          <p:cNvSpPr txBox="1"/>
          <p:nvPr/>
        </p:nvSpPr>
        <p:spPr>
          <a:xfrm>
            <a:off x="110847" y="71606"/>
            <a:ext cx="2549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Questionnaire Data</a:t>
            </a:r>
            <a:r>
              <a:rPr lang="ru-RU" sz="1600" b="1" dirty="0"/>
              <a:t> </a:t>
            </a:r>
            <a:endParaRPr lang="fr-FR" sz="1600" b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F1C693B-DDB7-2061-D941-1C561B7CCBBA}"/>
              </a:ext>
            </a:extLst>
          </p:cNvPr>
          <p:cNvSpPr txBox="1"/>
          <p:nvPr/>
        </p:nvSpPr>
        <p:spPr>
          <a:xfrm>
            <a:off x="288599" y="410160"/>
            <a:ext cx="23717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 err="1">
                <a:solidFill>
                  <a:schemeClr val="accent4"/>
                </a:solidFill>
              </a:rPr>
              <a:t>Weight</a:t>
            </a:r>
            <a:r>
              <a:rPr lang="fr-FR" sz="1200" b="1" dirty="0">
                <a:solidFill>
                  <a:schemeClr val="accent4"/>
                </a:solidFill>
              </a:rPr>
              <a:t> </a:t>
            </a:r>
            <a:r>
              <a:rPr lang="fr-FR" sz="1200" b="1" dirty="0" err="1">
                <a:solidFill>
                  <a:schemeClr val="accent4"/>
                </a:solidFill>
              </a:rPr>
              <a:t>History</a:t>
            </a:r>
            <a:r>
              <a:rPr lang="fr-FR" sz="1200" b="1" dirty="0">
                <a:solidFill>
                  <a:schemeClr val="accent4"/>
                </a:solidFill>
              </a:rPr>
              <a:t> (P_WHQ)</a:t>
            </a:r>
          </a:p>
        </p:txBody>
      </p:sp>
      <p:pic>
        <p:nvPicPr>
          <p:cNvPr id="6" name="Image 5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3129B6A1-A808-B915-4DD8-3C4EB3418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98" y="748714"/>
            <a:ext cx="3363763" cy="1903046"/>
          </a:xfrm>
          <a:prstGeom prst="rect">
            <a:avLst/>
          </a:prstGeom>
        </p:spPr>
      </p:pic>
      <p:pic>
        <p:nvPicPr>
          <p:cNvPr id="9" name="Image 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B084A989-C788-F984-4897-EA784494C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920" y="2713315"/>
            <a:ext cx="3317325" cy="1968413"/>
          </a:xfrm>
          <a:prstGeom prst="rect">
            <a:avLst/>
          </a:prstGeom>
        </p:spPr>
      </p:pic>
      <p:pic>
        <p:nvPicPr>
          <p:cNvPr id="12" name="Image 11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58442E51-7D46-8AAC-D69C-EEDBD33C11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029" y="4883348"/>
            <a:ext cx="3469642" cy="190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519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7AD7A1FA-ED57-A358-6489-01B7BF71B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59" y="835483"/>
            <a:ext cx="3396383" cy="2223087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D526716-3FDC-9C22-097A-D31007B40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60" y="3195701"/>
            <a:ext cx="3396382" cy="3250971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5731867-7CC9-1BF2-6BBE-37E4C8FAA5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860" y="3195701"/>
            <a:ext cx="3211432" cy="3508609"/>
          </a:xfrm>
          <a:prstGeom prst="rect">
            <a:avLst/>
          </a:prstGeom>
        </p:spPr>
      </p:pic>
      <p:pic>
        <p:nvPicPr>
          <p:cNvPr id="5" name="Image 4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134E4A28-4D57-79F5-ABCA-AAE64E717E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8293" y="689074"/>
            <a:ext cx="3211432" cy="1753481"/>
          </a:xfrm>
          <a:prstGeom prst="rect">
            <a:avLst/>
          </a:prstGeom>
        </p:spPr>
      </p:pic>
      <p:pic>
        <p:nvPicPr>
          <p:cNvPr id="6" name="Image 5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290DD8EB-2165-DFB9-649D-A89D142B5D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9260" y="2430840"/>
            <a:ext cx="3523624" cy="2129078"/>
          </a:xfrm>
          <a:prstGeom prst="rect">
            <a:avLst/>
          </a:prstGeom>
        </p:spPr>
      </p:pic>
      <p:pic>
        <p:nvPicPr>
          <p:cNvPr id="7" name="Image 6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29E65DEA-08BB-2F90-49C6-B6AA9FDB31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4928" y="4569193"/>
            <a:ext cx="3654629" cy="2166904"/>
          </a:xfrm>
          <a:prstGeom prst="rect">
            <a:avLst/>
          </a:prstGeom>
        </p:spPr>
      </p:pic>
      <p:pic>
        <p:nvPicPr>
          <p:cNvPr id="9" name="Image 8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205A6689-1ABE-347D-880F-AEB12224AC8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97037" y="707237"/>
            <a:ext cx="2714721" cy="235133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C2C937E0-59A2-5102-7E92-FE986B3650E8}"/>
              </a:ext>
            </a:extLst>
          </p:cNvPr>
          <p:cNvSpPr txBox="1"/>
          <p:nvPr/>
        </p:nvSpPr>
        <p:spPr>
          <a:xfrm>
            <a:off x="110846" y="265789"/>
            <a:ext cx="2549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2017-2020</a:t>
            </a:r>
            <a:endParaRPr lang="fr-FR" sz="1600" b="1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627A420-D69F-5808-3989-2A470833D653}"/>
              </a:ext>
            </a:extLst>
          </p:cNvPr>
          <p:cNvSpPr txBox="1"/>
          <p:nvPr/>
        </p:nvSpPr>
        <p:spPr>
          <a:xfrm>
            <a:off x="6990959" y="176606"/>
            <a:ext cx="2549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2015-2016 (et </a:t>
            </a:r>
            <a:r>
              <a:rPr lang="en-US" sz="1600" b="1" dirty="0" err="1"/>
              <a:t>avant</a:t>
            </a:r>
            <a:r>
              <a:rPr lang="en-US" sz="1600" b="1" dirty="0"/>
              <a:t>)</a:t>
            </a:r>
            <a:endParaRPr lang="fr-FR" sz="1600" b="1" dirty="0"/>
          </a:p>
        </p:txBody>
      </p:sp>
    </p:spTree>
    <p:extLst>
      <p:ext uri="{BB962C8B-B14F-4D97-AF65-F5344CB8AC3E}">
        <p14:creationId xmlns:p14="http://schemas.microsoft.com/office/powerpoint/2010/main" val="180966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26B09-C6BC-9B39-658C-73730F4CA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035C360C-A200-73E7-1A9E-92963FE3E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22" y="677359"/>
            <a:ext cx="3211432" cy="1753481"/>
          </a:xfrm>
          <a:prstGeom prst="rect">
            <a:avLst/>
          </a:prstGeom>
        </p:spPr>
      </p:pic>
      <p:pic>
        <p:nvPicPr>
          <p:cNvPr id="6" name="Image 5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27890CEB-EFCE-1D0E-C672-F8CB0E021D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222" y="2430840"/>
            <a:ext cx="3523624" cy="2129078"/>
          </a:xfrm>
          <a:prstGeom prst="rect">
            <a:avLst/>
          </a:prstGeom>
        </p:spPr>
      </p:pic>
      <p:pic>
        <p:nvPicPr>
          <p:cNvPr id="7" name="Image 6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B3C11738-64BD-E967-F885-910FF9D6B1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834" y="4559918"/>
            <a:ext cx="3654629" cy="2166904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FDC040E1-4773-389A-58BA-C747D1EA9CFF}"/>
              </a:ext>
            </a:extLst>
          </p:cNvPr>
          <p:cNvSpPr txBox="1"/>
          <p:nvPr/>
        </p:nvSpPr>
        <p:spPr>
          <a:xfrm>
            <a:off x="110846" y="265789"/>
            <a:ext cx="2549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2017-2020</a:t>
            </a:r>
            <a:endParaRPr lang="fr-FR" sz="1600" b="1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FF33225-EB9C-0623-9811-7D9A1240C5F3}"/>
              </a:ext>
            </a:extLst>
          </p:cNvPr>
          <p:cNvSpPr txBox="1"/>
          <p:nvPr/>
        </p:nvSpPr>
        <p:spPr>
          <a:xfrm>
            <a:off x="6950854" y="176606"/>
            <a:ext cx="2549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2009 - 2010</a:t>
            </a:r>
            <a:endParaRPr lang="fr-FR" sz="1600" b="1" dirty="0"/>
          </a:p>
        </p:txBody>
      </p:sp>
      <p:pic>
        <p:nvPicPr>
          <p:cNvPr id="12" name="Image 11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E599CFFA-CC69-7DBE-D813-D8AB41812C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8858" y="3333699"/>
            <a:ext cx="4330700" cy="2628900"/>
          </a:xfrm>
          <a:prstGeom prst="rect">
            <a:avLst/>
          </a:prstGeom>
        </p:spPr>
      </p:pic>
      <p:pic>
        <p:nvPicPr>
          <p:cNvPr id="14" name="Image 13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76A4322E-EAF9-3FE6-75A9-4778CB9AEC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8858" y="677359"/>
            <a:ext cx="4368800" cy="2336800"/>
          </a:xfrm>
          <a:prstGeom prst="rect">
            <a:avLst/>
          </a:prstGeom>
        </p:spPr>
      </p:pic>
      <p:pic>
        <p:nvPicPr>
          <p:cNvPr id="16" name="Image 15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ED4F67DE-746C-83B0-0453-D894590A2A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1075" y="3495379"/>
            <a:ext cx="3277783" cy="202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79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A9EB99C-3520-BF5D-5529-5E63D8977A6C}"/>
              </a:ext>
            </a:extLst>
          </p:cNvPr>
          <p:cNvSpPr txBox="1"/>
          <p:nvPr/>
        </p:nvSpPr>
        <p:spPr>
          <a:xfrm>
            <a:off x="110846" y="265789"/>
            <a:ext cx="2549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2015-2020</a:t>
            </a:r>
            <a:endParaRPr lang="fr-FR" sz="1600" b="1" dirty="0"/>
          </a:p>
        </p:txBody>
      </p:sp>
      <p:pic>
        <p:nvPicPr>
          <p:cNvPr id="4" name="Image 3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7219825B-4659-9E58-BBC5-8F1A57797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46" y="604343"/>
            <a:ext cx="4168216" cy="2122232"/>
          </a:xfrm>
          <a:prstGeom prst="rect">
            <a:avLst/>
          </a:prstGeom>
        </p:spPr>
      </p:pic>
      <p:pic>
        <p:nvPicPr>
          <p:cNvPr id="5" name="Image 4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C3CC8542-A9A8-EF89-F70D-DD36F9509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46" y="3248526"/>
            <a:ext cx="3804449" cy="262608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C7F005B-19D9-1263-24FA-14C554EB0E14}"/>
              </a:ext>
            </a:extLst>
          </p:cNvPr>
          <p:cNvSpPr txBox="1"/>
          <p:nvPr/>
        </p:nvSpPr>
        <p:spPr>
          <a:xfrm>
            <a:off x="6271014" y="265789"/>
            <a:ext cx="2549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2013-2014</a:t>
            </a:r>
            <a:endParaRPr lang="fr-FR" sz="1600" b="1" dirty="0"/>
          </a:p>
        </p:txBody>
      </p:sp>
      <p:pic>
        <p:nvPicPr>
          <p:cNvPr id="8" name="Image 7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2F4278AB-482C-B610-C6CC-A1C7E2A371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6308" y="604343"/>
            <a:ext cx="4304180" cy="264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847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D2E9C6E4-1EAB-A441-3CB9-5CB67E55C51B}"/>
              </a:ext>
            </a:extLst>
          </p:cNvPr>
          <p:cNvSpPr txBox="1"/>
          <p:nvPr/>
        </p:nvSpPr>
        <p:spPr>
          <a:xfrm>
            <a:off x="842210" y="88375"/>
            <a:ext cx="2549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2009 - 2010</a:t>
            </a:r>
            <a:endParaRPr lang="fr-FR" sz="1600" b="1" dirty="0"/>
          </a:p>
        </p:txBody>
      </p:sp>
      <p:pic>
        <p:nvPicPr>
          <p:cNvPr id="4" name="Image 3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13F2D8F5-3FCD-ABBD-4AAE-1E1C2E9B4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53" y="552450"/>
            <a:ext cx="4241800" cy="2400300"/>
          </a:xfrm>
          <a:prstGeom prst="rect">
            <a:avLst/>
          </a:prstGeom>
        </p:spPr>
      </p:pic>
      <p:pic>
        <p:nvPicPr>
          <p:cNvPr id="5" name="Image 4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9B9676A1-87DD-A2C9-92B3-A1DA6AE8E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920" y="552450"/>
            <a:ext cx="3529560" cy="221009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3AC9C45-FE6A-4927-62D5-10EC5EFFDDB7}"/>
              </a:ext>
            </a:extLst>
          </p:cNvPr>
          <p:cNvSpPr txBox="1"/>
          <p:nvPr/>
        </p:nvSpPr>
        <p:spPr>
          <a:xfrm>
            <a:off x="7154779" y="97374"/>
            <a:ext cx="2549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20</a:t>
            </a:r>
            <a:r>
              <a:rPr lang="en-US" sz="1600" b="1" dirty="0"/>
              <a:t>15</a:t>
            </a:r>
            <a:r>
              <a:rPr lang="ru-RU" sz="1600" b="1" dirty="0"/>
              <a:t> - 20</a:t>
            </a:r>
            <a:r>
              <a:rPr lang="en-US" sz="1600" b="1" dirty="0"/>
              <a:t>20</a:t>
            </a:r>
            <a:endParaRPr lang="fr-FR" sz="1600" b="1" dirty="0"/>
          </a:p>
        </p:txBody>
      </p:sp>
      <p:pic>
        <p:nvPicPr>
          <p:cNvPr id="8" name="Image 7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54AA8DF1-1E3D-3D08-1BAD-6CDC946992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3" y="3078271"/>
            <a:ext cx="4292600" cy="27051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B24ABFE-2854-D8F4-D3A6-FD2ED92F61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3340" y="3334740"/>
            <a:ext cx="3895817" cy="201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114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B546C844-3B4B-C840-F235-B7D43C421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3" y="454713"/>
            <a:ext cx="5406299" cy="2974286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CBD3664-EE50-81A5-52D4-56BF7EC788CD}"/>
              </a:ext>
            </a:extLst>
          </p:cNvPr>
          <p:cNvSpPr txBox="1"/>
          <p:nvPr/>
        </p:nvSpPr>
        <p:spPr>
          <a:xfrm>
            <a:off x="1358192" y="116160"/>
            <a:ext cx="2549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2017-2020</a:t>
            </a:r>
            <a:endParaRPr lang="fr-FR" sz="1600" b="1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0596D2F-16CA-85A5-5CE1-4580F0FDC2FD}"/>
              </a:ext>
            </a:extLst>
          </p:cNvPr>
          <p:cNvSpPr txBox="1"/>
          <p:nvPr/>
        </p:nvSpPr>
        <p:spPr>
          <a:xfrm>
            <a:off x="7562258" y="116160"/>
            <a:ext cx="14071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Before 2017</a:t>
            </a:r>
            <a:endParaRPr lang="fr-FR" sz="1600" b="1" dirty="0"/>
          </a:p>
        </p:txBody>
      </p:sp>
      <p:pic>
        <p:nvPicPr>
          <p:cNvPr id="6" name="Image 5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94F31DD1-6274-FE76-B94E-32921AFED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178" y="454713"/>
            <a:ext cx="4515018" cy="297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13232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40745</TotalTime>
  <Words>173</Words>
  <Application>Microsoft Macintosh PowerPoint</Application>
  <PresentationFormat>Grand écran</PresentationFormat>
  <Paragraphs>54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Artyom G</dc:creator>
  <cp:lastModifiedBy>Artyom G</cp:lastModifiedBy>
  <cp:revision>4</cp:revision>
  <dcterms:created xsi:type="dcterms:W3CDTF">2025-01-21T21:36:13Z</dcterms:created>
  <dcterms:modified xsi:type="dcterms:W3CDTF">2025-02-21T19:13:45Z</dcterms:modified>
</cp:coreProperties>
</file>